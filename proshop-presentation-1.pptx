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24" d="100"/>
          <a:sy n="24" d="100"/>
        </p:scale>
        <p:origin x="115" y="57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8" name="Shape 148"/>
          <p:cNvSpPr>
            <a:spLocks noGrp="1" noRot="1" noChangeAspect="1"/>
          </p:cNvSpPr>
          <p:nvPr>
            <p:ph type="sldImg"/>
          </p:nvPr>
        </p:nvSpPr>
        <p:spPr>
          <a:xfrm>
            <a:off x="1143000" y="685800"/>
            <a:ext cx="4572000" cy="3429000"/>
          </a:xfrm>
          <a:prstGeom prst="rect">
            <a:avLst/>
          </a:prstGeom>
        </p:spPr>
        <p:txBody>
          <a:bodyPr/>
          <a:lstStyle/>
          <a:p>
            <a:endParaRPr/>
          </a:p>
        </p:txBody>
      </p:sp>
      <p:sp>
        <p:nvSpPr>
          <p:cNvPr id="149" name="Shape 14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Author and Date</a:t>
            </a:r>
          </a:p>
        </p:txBody>
      </p:sp>
      <p:sp>
        <p:nvSpPr>
          <p:cNvPr id="12" name="Presentation Title"/>
          <p:cNvSpPr txBox="1">
            <a:spLocks noGrp="1"/>
          </p:cNvSpPr>
          <p:nvPr>
            <p:ph type="title" hasCustomPrompt="1"/>
          </p:nvPr>
        </p:nvSpPr>
        <p:spPr>
          <a:xfrm>
            <a:off x="1206496" y="2574991"/>
            <a:ext cx="21971004" cy="4648201"/>
          </a:xfrm>
          <a:prstGeom prst="rect">
            <a:avLst/>
          </a:prstGeom>
        </p:spPr>
        <p:txBody>
          <a:bodyPr anchor="b"/>
          <a:lstStyle>
            <a:lvl1pPr>
              <a:defRPr sz="11600" spc="-232"/>
            </a:lvl1pPr>
          </a:lstStyle>
          <a:p>
            <a:r>
              <a:t>Presentation Title</a:t>
            </a:r>
          </a:p>
        </p:txBody>
      </p:sp>
      <p:sp>
        <p:nvSpPr>
          <p:cNvPr id="13" name="Body Level One…"/>
          <p:cNvSpPr txBox="1">
            <a:spLocks noGrp="1"/>
          </p:cNvSpPr>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p:bg>
      <p:bgPr>
        <a:solidFill>
          <a:srgbClr val="FFFFFF"/>
        </a:solidFill>
        <a:effectLst/>
      </p:bgPr>
    </p:bg>
    <p:spTree>
      <p:nvGrpSpPr>
        <p:cNvPr id="1" name=""/>
        <p:cNvGrpSpPr/>
        <p:nvPr/>
      </p:nvGrpSpPr>
      <p:grpSpPr>
        <a:xfrm>
          <a:off x="0" y="0"/>
          <a:ext cx="0" cy="0"/>
          <a:chOff x="0" y="0"/>
          <a:chExt cx="0" cy="0"/>
        </a:xfrm>
      </p:grpSpPr>
      <p:sp>
        <p:nvSpPr>
          <p:cNvPr id="21" name="View from inside a stone structure, looking out towards stairs and a clear, blue sky"/>
          <p:cNvSpPr>
            <a:spLocks noGrp="1"/>
          </p:cNvSpPr>
          <p:nvPr>
            <p:ph type="pic" idx="21"/>
          </p:nvPr>
        </p:nvSpPr>
        <p:spPr>
          <a:xfrm>
            <a:off x="0" y="-1270000"/>
            <a:ext cx="24384000" cy="16272934"/>
          </a:xfrm>
          <a:prstGeom prst="rect">
            <a:avLst/>
          </a:prstGeom>
        </p:spPr>
        <p:txBody>
          <a:bodyPr lIns="91439" tIns="45719" rIns="91439" bIns="45719">
            <a:noAutofit/>
          </a:bodyPr>
          <a:lstStyle/>
          <a:p>
            <a:endParaRPr/>
          </a:p>
        </p:txBody>
      </p:sp>
      <p:sp>
        <p:nvSpPr>
          <p:cNvPr id="22" name="Presentation Title"/>
          <p:cNvSpPr txBox="1">
            <a:spLocks noGrp="1"/>
          </p:cNvSpPr>
          <p:nvPr>
            <p:ph type="title" hasCustomPrompt="1"/>
          </p:nvPr>
        </p:nvSpPr>
        <p:spPr>
          <a:xfrm>
            <a:off x="1206500" y="7124700"/>
            <a:ext cx="21971000" cy="4648200"/>
          </a:xfrm>
          <a:prstGeom prst="rect">
            <a:avLst/>
          </a:prstGeom>
        </p:spPr>
        <p:txBody>
          <a:bodyPr anchor="b"/>
          <a:lstStyle>
            <a:lvl1pPr>
              <a:defRPr sz="11600" spc="-232"/>
            </a:lvl1pPr>
          </a:lstStyle>
          <a:p>
            <a:r>
              <a:t>Presentation Title</a:t>
            </a:r>
          </a:p>
        </p:txBody>
      </p:sp>
      <p:sp>
        <p:nvSpPr>
          <p:cNvPr id="23" name="Author and Date"/>
          <p:cNvSpPr txBox="1">
            <a:spLocks noGrp="1"/>
          </p:cNvSpPr>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Author and Date</a:t>
            </a:r>
          </a:p>
        </p:txBody>
      </p:sp>
      <p:sp>
        <p:nvSpPr>
          <p:cNvPr id="24" name="Body Level One…"/>
          <p:cNvSpPr txBox="1">
            <a:spLocks noGrp="1"/>
          </p:cNvSpPr>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Presentation Subtitle</a:t>
            </a:r>
          </a:p>
          <a:p>
            <a:pPr lvl="1"/>
            <a:endParaRPr/>
          </a:p>
          <a:p>
            <a:pPr lvl="2"/>
            <a:endParaRPr/>
          </a:p>
          <a:p>
            <a:pPr lvl="3"/>
            <a:endParaRPr/>
          </a:p>
          <a:p>
            <a:pPr lvl="4"/>
            <a:endParaRPr/>
          </a:p>
        </p:txBody>
      </p:sp>
      <p:sp>
        <p:nvSpPr>
          <p:cNvPr id="2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A modern white building with glass panels against a clear, blue sky"/>
          <p:cNvSpPr>
            <a:spLocks noGrp="1"/>
          </p:cNvSpPr>
          <p:nvPr>
            <p:ph type="pic" idx="21"/>
          </p:nvPr>
        </p:nvSpPr>
        <p:spPr>
          <a:xfrm>
            <a:off x="9271000" y="1270000"/>
            <a:ext cx="16764000" cy="11176000"/>
          </a:xfrm>
          <a:prstGeom prst="rect">
            <a:avLst/>
          </a:prstGeom>
        </p:spPr>
        <p:txBody>
          <a:bodyPr lIns="91439" tIns="45719" rIns="91439" bIns="45719">
            <a:noAutofit/>
          </a:bodyPr>
          <a:lstStyle/>
          <a:p>
            <a:endParaRPr/>
          </a:p>
        </p:txBody>
      </p:sp>
      <p:sp>
        <p:nvSpPr>
          <p:cNvPr id="33" name="Slide Title"/>
          <p:cNvSpPr txBox="1">
            <a:spLocks noGrp="1"/>
          </p:cNvSpPr>
          <p:nvPr>
            <p:ph type="title" hasCustomPrompt="1"/>
          </p:nvPr>
        </p:nvSpPr>
        <p:spPr>
          <a:xfrm>
            <a:off x="1206500" y="1270000"/>
            <a:ext cx="9779000" cy="5882273"/>
          </a:xfrm>
          <a:prstGeom prst="rect">
            <a:avLst/>
          </a:prstGeom>
        </p:spPr>
        <p:txBody>
          <a:bodyPr anchor="b"/>
          <a:lstStyle/>
          <a:p>
            <a:r>
              <a:t>Slide Title</a:t>
            </a:r>
          </a:p>
        </p:txBody>
      </p:sp>
      <p:sp>
        <p:nvSpPr>
          <p:cNvPr id="34" name="Body Level One…"/>
          <p:cNvSpPr txBox="1">
            <a:spLocks noGrp="1"/>
          </p:cNvSpPr>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Slide Subtitle</a:t>
            </a:r>
          </a:p>
          <a:p>
            <a:pPr lvl="1"/>
            <a:endParaRPr/>
          </a:p>
          <a:p>
            <a:pPr lvl="2"/>
            <a:endParaRPr/>
          </a:p>
          <a:p>
            <a:pPr lvl="3"/>
            <a:endParaRPr/>
          </a:p>
          <a:p>
            <a:pPr lvl="4"/>
            <a:endParaRPr/>
          </a:p>
        </p:txBody>
      </p:sp>
      <p:sp>
        <p:nvSpPr>
          <p:cNvPr id="35"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t>Slide Title</a:t>
            </a:r>
          </a:p>
        </p:txBody>
      </p:sp>
      <p:sp>
        <p:nvSpPr>
          <p:cNvPr id="43"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prstGeom prst="rect">
            <a:avLst/>
          </a:prstGeom>
        </p:spPr>
        <p:txBody>
          <a:bodyPr numCol="2" spcCol="1098550"/>
          <a:lstStyle/>
          <a:p>
            <a:r>
              <a:t>Slide bullet text</a:t>
            </a:r>
          </a:p>
          <a:p>
            <a:pPr lvl="1"/>
            <a:endParaRPr/>
          </a:p>
          <a:p>
            <a:pPr lvl="2"/>
            <a:endParaRPr/>
          </a:p>
          <a:p>
            <a:pPr lvl="3"/>
            <a:endParaRPr/>
          </a:p>
          <a:p>
            <a:pPr lvl="4"/>
            <a:endParaRP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0"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61"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62" name="Small section of a modern shell bridge in Qingdao, Shandong, China with a partly cloudy sky above"/>
          <p:cNvSpPr>
            <a:spLocks noGrp="1"/>
          </p:cNvSpPr>
          <p:nvPr>
            <p:ph type="pic" idx="22"/>
          </p:nvPr>
        </p:nvSpPr>
        <p:spPr>
          <a:xfrm>
            <a:off x="9271000" y="1263848"/>
            <a:ext cx="16773843" cy="11188205"/>
          </a:xfrm>
          <a:prstGeom prst="rect">
            <a:avLst/>
          </a:prstGeom>
        </p:spPr>
        <p:txBody>
          <a:bodyPr lIns="91439" tIns="45719" rIns="91439" bIns="45719">
            <a:noAutofit/>
          </a:bodyPr>
          <a:lstStyle/>
          <a:p>
            <a:endParaRPr/>
          </a:p>
        </p:txBody>
      </p:sp>
      <p:sp>
        <p:nvSpPr>
          <p:cNvPr id="63" name="Slide Title"/>
          <p:cNvSpPr txBox="1">
            <a:spLocks noGrp="1"/>
          </p:cNvSpPr>
          <p:nvPr>
            <p:ph type="title" hasCustomPrompt="1"/>
          </p:nvPr>
        </p:nvSpPr>
        <p:spPr>
          <a:xfrm>
            <a:off x="1206500" y="1079500"/>
            <a:ext cx="9779000" cy="1435100"/>
          </a:xfrm>
          <a:prstGeom prst="rect">
            <a:avLst/>
          </a:prstGeom>
        </p:spPr>
        <p:txBody>
          <a:bodyPr/>
          <a:lstStyle/>
          <a:p>
            <a:r>
              <a:t>Slide Title</a:t>
            </a: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Section">
    <p:spTree>
      <p:nvGrpSpPr>
        <p:cNvPr id="1" name=""/>
        <p:cNvGrpSpPr/>
        <p:nvPr/>
      </p:nvGrpSpPr>
      <p:grpSpPr>
        <a:xfrm>
          <a:off x="0" y="0"/>
          <a:ext cx="0" cy="0"/>
          <a:chOff x="0" y="0"/>
          <a:chExt cx="0" cy="0"/>
        </a:xfrm>
      </p:grpSpPr>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defRPr sz="11600" b="0" spc="-232">
                <a:latin typeface="Helvetica Neue Medium"/>
                <a:ea typeface="Helvetica Neue Medium"/>
                <a:cs typeface="Helvetica Neue Medium"/>
                <a:sym typeface="Helvetica Neue Medium"/>
              </a:defRPr>
            </a:lvl1pPr>
          </a:lstStyle>
          <a:p>
            <a:r>
              <a:t>Section Title</a:t>
            </a:r>
          </a:p>
        </p:txBody>
      </p:sp>
      <p:sp>
        <p:nvSpPr>
          <p:cNvPr id="72"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79" name="Slide Title"/>
          <p:cNvSpPr txBox="1">
            <a:spLocks noGrp="1"/>
          </p:cNvSpPr>
          <p:nvPr>
            <p:ph type="title" hasCustomPrompt="1"/>
          </p:nvPr>
        </p:nvSpPr>
        <p:spPr>
          <a:xfrm>
            <a:off x="1206500" y="1079500"/>
            <a:ext cx="21971000" cy="1434949"/>
          </a:xfrm>
          <a:prstGeom prst="rect">
            <a:avLst/>
          </a:prstGeom>
        </p:spPr>
        <p:txBody>
          <a:bodyPr/>
          <a:lstStyle/>
          <a:p>
            <a:r>
              <a:t>Slide Title</a:t>
            </a:r>
          </a:p>
        </p:txBody>
      </p:sp>
      <p:sp>
        <p:nvSpPr>
          <p:cNvPr id="80"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8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88" name="Agenda Title"/>
          <p:cNvSpPr txBox="1">
            <a:spLocks noGrp="1"/>
          </p:cNvSpPr>
          <p:nvPr>
            <p:ph type="title" hasCustomPrompt="1"/>
          </p:nvPr>
        </p:nvSpPr>
        <p:spPr>
          <a:xfrm>
            <a:off x="1206500" y="1079500"/>
            <a:ext cx="21971000" cy="1435100"/>
          </a:xfrm>
          <a:prstGeom prst="rect">
            <a:avLst/>
          </a:prstGeom>
        </p:spPr>
        <p:txBody>
          <a:bodyPr/>
          <a:lstStyle/>
          <a:p>
            <a:r>
              <a:t>Agenda Title</a:t>
            </a:r>
          </a:p>
        </p:txBody>
      </p:sp>
      <p:sp>
        <p:nvSpPr>
          <p:cNvPr id="89" name="Agenda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Agenda Subtitle</a:t>
            </a:r>
          </a:p>
        </p:txBody>
      </p:sp>
      <p:sp>
        <p:nvSpPr>
          <p:cNvPr id="90" name="Body Level One…"/>
          <p:cNvSpPr txBox="1">
            <a:spLocks noGrp="1"/>
          </p:cNvSpPr>
          <p:nvPr>
            <p:ph type="body" idx="1" hasCustomPrompt="1"/>
          </p:nvPr>
        </p:nvSpPr>
        <p:spPr>
          <a:prstGeom prst="rect">
            <a:avLst/>
          </a:prstGeom>
        </p:spPr>
        <p:txBody>
          <a:bodyPr/>
          <a:lstStyle>
            <a:lvl1pPr marL="0" indent="0" defTabSz="825500">
              <a:lnSpc>
                <a:spcPct val="100000"/>
              </a:lnSpc>
              <a:spcBef>
                <a:spcPts val="1800"/>
              </a:spcBef>
              <a:buSzTx/>
              <a:buNone/>
              <a:defRPr sz="5500" spc="-55"/>
            </a:lvl1pPr>
            <a:lvl2pPr marL="0" indent="457200" defTabSz="825500">
              <a:lnSpc>
                <a:spcPct val="100000"/>
              </a:lnSpc>
              <a:spcBef>
                <a:spcPts val="1800"/>
              </a:spcBef>
              <a:buSzTx/>
              <a:buNone/>
              <a:defRPr sz="5500" spc="-55"/>
            </a:lvl2pPr>
            <a:lvl3pPr marL="0" indent="914400" defTabSz="825500">
              <a:lnSpc>
                <a:spcPct val="100000"/>
              </a:lnSpc>
              <a:spcBef>
                <a:spcPts val="1800"/>
              </a:spcBef>
              <a:buSzTx/>
              <a:buNone/>
              <a:defRPr sz="5500" spc="-55"/>
            </a:lvl3pPr>
            <a:lvl4pPr marL="0" indent="1371600" defTabSz="825500">
              <a:lnSpc>
                <a:spcPct val="100000"/>
              </a:lnSpc>
              <a:spcBef>
                <a:spcPts val="1800"/>
              </a:spcBef>
              <a:buSzTx/>
              <a:buNone/>
              <a:defRPr sz="5500" spc="-55"/>
            </a:lvl4pPr>
            <a:lvl5pPr marL="0" indent="1828800" defTabSz="825500">
              <a:lnSpc>
                <a:spcPct val="100000"/>
              </a:lnSpc>
              <a:spcBef>
                <a:spcPts val="1800"/>
              </a:spcBef>
              <a:buSzTx/>
              <a:buNone/>
              <a:defRPr sz="5500" spc="-55"/>
            </a:lvl5pPr>
          </a:lstStyle>
          <a:p>
            <a:r>
              <a:t>Agenda Topics</a:t>
            </a:r>
          </a:p>
          <a:p>
            <a:pPr lvl="1"/>
            <a:endParaRPr/>
          </a:p>
          <a:p>
            <a:pPr lvl="2"/>
            <a:endParaRPr/>
          </a:p>
          <a:p>
            <a:pPr lvl="3"/>
            <a:endParaRPr/>
          </a:p>
          <a:p>
            <a:pPr lvl="4"/>
            <a:endParaRPr/>
          </a:p>
        </p:txBody>
      </p:sp>
      <p:sp>
        <p:nvSpPr>
          <p:cNvPr id="9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98" name="Body Level One…"/>
          <p:cNvSpPr txBox="1">
            <a:spLocks noGrp="1"/>
          </p:cNvSpPr>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z="11600" spc="-232">
                <a:latin typeface="Helvetica Neue Medium"/>
                <a:ea typeface="Helvetica Neue Medium"/>
                <a:cs typeface="Helvetica Neue Medium"/>
                <a:sym typeface="Helvetica Neue Medium"/>
              </a:defRPr>
            </a:lvl1pPr>
            <a:lvl2pPr marL="0" indent="457200" algn="ctr">
              <a:lnSpc>
                <a:spcPct val="80000"/>
              </a:lnSpc>
              <a:spcBef>
                <a:spcPts val="0"/>
              </a:spcBef>
              <a:buSzTx/>
              <a:buNone/>
              <a:defRPr sz="11600" spc="-232">
                <a:latin typeface="Helvetica Neue Medium"/>
                <a:ea typeface="Helvetica Neue Medium"/>
                <a:cs typeface="Helvetica Neue Medium"/>
                <a:sym typeface="Helvetica Neue Medium"/>
              </a:defRPr>
            </a:lvl2pPr>
            <a:lvl3pPr marL="0" indent="914400" algn="ctr">
              <a:lnSpc>
                <a:spcPct val="80000"/>
              </a:lnSpc>
              <a:spcBef>
                <a:spcPts val="0"/>
              </a:spcBef>
              <a:buSzTx/>
              <a:buNone/>
              <a:defRPr sz="11600" spc="-232">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z="11600" spc="-232">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z="11600" spc="-232">
                <a:latin typeface="Helvetica Neue Medium"/>
                <a:ea typeface="Helvetica Neue Medium"/>
                <a:cs typeface="Helvetica Neue Medium"/>
                <a:sym typeface="Helvetica Neue Medium"/>
              </a:defRPr>
            </a:lvl5pPr>
          </a:lstStyle>
          <a:p>
            <a:r>
              <a:t>Statement</a:t>
            </a:r>
          </a:p>
          <a:p>
            <a:pPr lvl="1"/>
            <a:endParaRPr/>
          </a:p>
          <a:p>
            <a:pPr lvl="2"/>
            <a:endParaRPr/>
          </a:p>
          <a:p>
            <a:pPr lvl="3"/>
            <a:endParaRPr/>
          </a:p>
          <a:p>
            <a:pPr lvl="4"/>
            <a:endParaRPr/>
          </a:p>
        </p:txBody>
      </p:sp>
      <p:sp>
        <p:nvSpPr>
          <p:cNvPr id="9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ig Fact">
    <p:spTree>
      <p:nvGrpSpPr>
        <p:cNvPr id="1" name=""/>
        <p:cNvGrpSpPr/>
        <p:nvPr/>
      </p:nvGrpSpPr>
      <p:grpSpPr>
        <a:xfrm>
          <a:off x="0" y="0"/>
          <a:ext cx="0" cy="0"/>
          <a:chOff x="0" y="0"/>
          <a:chExt cx="0" cy="0"/>
        </a:xfrm>
      </p:grpSpPr>
      <p:sp>
        <p:nvSpPr>
          <p:cNvPr id="106" name="Body Level One…"/>
          <p:cNvSpPr txBox="1">
            <a:spLocks noGrp="1"/>
          </p:cNvSpPr>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sz="25000" b="1" spc="-250"/>
            </a:lvl1pPr>
            <a:lvl2pPr marL="0" indent="457200" algn="ctr">
              <a:lnSpc>
                <a:spcPct val="80000"/>
              </a:lnSpc>
              <a:spcBef>
                <a:spcPts val="0"/>
              </a:spcBef>
              <a:buSzTx/>
              <a:buNone/>
              <a:defRPr sz="25000" b="1" spc="-250"/>
            </a:lvl2pPr>
            <a:lvl3pPr marL="0" indent="914400" algn="ctr">
              <a:lnSpc>
                <a:spcPct val="80000"/>
              </a:lnSpc>
              <a:spcBef>
                <a:spcPts val="0"/>
              </a:spcBef>
              <a:buSzTx/>
              <a:buNone/>
              <a:defRPr sz="25000" b="1" spc="-250"/>
            </a:lvl3pPr>
            <a:lvl4pPr marL="0" indent="1371600" algn="ctr">
              <a:lnSpc>
                <a:spcPct val="80000"/>
              </a:lnSpc>
              <a:spcBef>
                <a:spcPts val="0"/>
              </a:spcBef>
              <a:buSzTx/>
              <a:buNone/>
              <a:defRPr sz="25000" b="1" spc="-250"/>
            </a:lvl4pPr>
            <a:lvl5pPr marL="0" indent="1828800" algn="ctr">
              <a:lnSpc>
                <a:spcPct val="80000"/>
              </a:lnSpc>
              <a:spcBef>
                <a:spcPts val="0"/>
              </a:spcBef>
              <a:buSzTx/>
              <a:buNone/>
              <a:defRPr sz="25000" b="1" spc="-250"/>
            </a:lvl5pPr>
          </a:lstStyle>
          <a:p>
            <a:r>
              <a:t>100%</a:t>
            </a:r>
          </a:p>
          <a:p>
            <a:pPr lvl="1"/>
            <a:endParaRPr/>
          </a:p>
          <a:p>
            <a:pPr lvl="2"/>
            <a:endParaRPr/>
          </a:p>
          <a:p>
            <a:pPr lvl="3"/>
            <a:endParaRPr/>
          </a:p>
          <a:p>
            <a:pPr lvl="4"/>
            <a:endParaRPr/>
          </a:p>
        </p:txBody>
      </p:sp>
      <p:sp>
        <p:nvSpPr>
          <p:cNvPr id="107" name="Fact information"/>
          <p:cNvSpPr txBox="1">
            <a:spLocks noGrp="1"/>
          </p:cNvSpPr>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sz="5500" b="1"/>
            </a:lvl1pPr>
          </a:lstStyle>
          <a:p>
            <a:r>
              <a:t>Fact information</a:t>
            </a:r>
          </a:p>
        </p:txBody>
      </p:sp>
      <p:sp>
        <p:nvSpPr>
          <p:cNvPr id="10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15" name="Attribution"/>
          <p:cNvSpPr txBox="1">
            <a:spLocks noGrp="1"/>
          </p:cNvSpPr>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Attribution</a:t>
            </a:r>
          </a:p>
        </p:txBody>
      </p:sp>
      <p:sp>
        <p:nvSpPr>
          <p:cNvPr id="116" name="Body Level One…"/>
          <p:cNvSpPr txBox="1">
            <a:spLocks noGrp="1"/>
          </p:cNvSpPr>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z="8500" spc="-170">
                <a:latin typeface="Helvetica Neue Medium"/>
                <a:ea typeface="Helvetica Neue Medium"/>
                <a:cs typeface="Helvetica Neue Medium"/>
                <a:sym typeface="Helvetica Neue Medium"/>
              </a:defRPr>
            </a:lvl1pPr>
            <a:lvl2pPr marL="638923" indent="-12700">
              <a:spcBef>
                <a:spcPts val="0"/>
              </a:spcBef>
              <a:buSzTx/>
              <a:buNone/>
              <a:defRPr sz="8500" spc="-170">
                <a:latin typeface="Helvetica Neue Medium"/>
                <a:ea typeface="Helvetica Neue Medium"/>
                <a:cs typeface="Helvetica Neue Medium"/>
                <a:sym typeface="Helvetica Neue Medium"/>
              </a:defRPr>
            </a:lvl2pPr>
            <a:lvl3pPr marL="638923" indent="444500">
              <a:spcBef>
                <a:spcPts val="0"/>
              </a:spcBef>
              <a:buSzTx/>
              <a:buNone/>
              <a:defRPr sz="8500" spc="-170">
                <a:latin typeface="Helvetica Neue Medium"/>
                <a:ea typeface="Helvetica Neue Medium"/>
                <a:cs typeface="Helvetica Neue Medium"/>
                <a:sym typeface="Helvetica Neue Medium"/>
              </a:defRPr>
            </a:lvl3pPr>
            <a:lvl4pPr marL="638923" indent="901700">
              <a:spcBef>
                <a:spcPts val="0"/>
              </a:spcBef>
              <a:buSzTx/>
              <a:buNone/>
              <a:defRPr sz="8500" spc="-170">
                <a:latin typeface="Helvetica Neue Medium"/>
                <a:ea typeface="Helvetica Neue Medium"/>
                <a:cs typeface="Helvetica Neue Medium"/>
                <a:sym typeface="Helvetica Neue Medium"/>
              </a:defRPr>
            </a:lvl4pPr>
            <a:lvl5pPr marL="638923" indent="1358900">
              <a:spcBef>
                <a:spcPts val="0"/>
              </a:spcBef>
              <a:buSzTx/>
              <a:buNone/>
              <a:defRPr sz="8500" spc="-170">
                <a:latin typeface="Helvetica Neue Medium"/>
                <a:ea typeface="Helvetica Neue Medium"/>
                <a:cs typeface="Helvetica Neue Medium"/>
                <a:sym typeface="Helvetica Neue Medium"/>
              </a:defRPr>
            </a:lvl5pPr>
          </a:lstStyle>
          <a:p>
            <a:r>
              <a:t>“Notable Quote”</a:t>
            </a:r>
          </a:p>
          <a:p>
            <a:pPr lvl="1"/>
            <a:endParaRPr/>
          </a:p>
          <a:p>
            <a:pPr lvl="2"/>
            <a:endParaRPr/>
          </a:p>
          <a:p>
            <a:pPr lvl="3"/>
            <a:endParaRPr/>
          </a:p>
          <a:p>
            <a:pPr lvl="4"/>
            <a:endParaRPr/>
          </a:p>
        </p:txBody>
      </p:sp>
      <p:sp>
        <p:nvSpPr>
          <p:cNvPr id="11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24" name="Low-angle exterior view of a modern building facade covered with aluminium discs under a clear, blue sky"/>
          <p:cNvSpPr>
            <a:spLocks noGrp="1"/>
          </p:cNvSpPr>
          <p:nvPr>
            <p:ph type="pic" sz="quarter" idx="21"/>
          </p:nvPr>
        </p:nvSpPr>
        <p:spPr>
          <a:xfrm>
            <a:off x="15417800" y="1270000"/>
            <a:ext cx="8144934" cy="5410200"/>
          </a:xfrm>
          <a:prstGeom prst="rect">
            <a:avLst/>
          </a:prstGeom>
        </p:spPr>
        <p:txBody>
          <a:bodyPr lIns="91439" tIns="45719" rIns="91439" bIns="45719">
            <a:noAutofit/>
          </a:bodyPr>
          <a:lstStyle/>
          <a:p>
            <a:endParaRPr/>
          </a:p>
        </p:txBody>
      </p:sp>
      <p:sp>
        <p:nvSpPr>
          <p:cNvPr id="125" name="Low-angle view of a modern, curved building under a cloudy sky"/>
          <p:cNvSpPr>
            <a:spLocks noGrp="1"/>
          </p:cNvSpPr>
          <p:nvPr>
            <p:ph type="pic" sz="quarter" idx="22"/>
          </p:nvPr>
        </p:nvSpPr>
        <p:spPr>
          <a:xfrm>
            <a:off x="15443200" y="7086600"/>
            <a:ext cx="8138580" cy="5422900"/>
          </a:xfrm>
          <a:prstGeom prst="rect">
            <a:avLst/>
          </a:prstGeom>
        </p:spPr>
        <p:txBody>
          <a:bodyPr lIns="91439" tIns="45719" rIns="91439" bIns="45719">
            <a:noAutofit/>
          </a:bodyPr>
          <a:lstStyle/>
          <a:p>
            <a:endParaRPr/>
          </a:p>
        </p:txBody>
      </p:sp>
      <p:sp>
        <p:nvSpPr>
          <p:cNvPr id="126" name="View from inside a modern white building with glass panels, looking up to a bright, partly cloudy sky"/>
          <p:cNvSpPr>
            <a:spLocks noGrp="1"/>
          </p:cNvSpPr>
          <p:nvPr>
            <p:ph type="pic" idx="23"/>
          </p:nvPr>
        </p:nvSpPr>
        <p:spPr>
          <a:xfrm>
            <a:off x="-124635" y="1270000"/>
            <a:ext cx="16840169" cy="11243712"/>
          </a:xfrm>
          <a:prstGeom prst="rect">
            <a:avLst/>
          </a:prstGeom>
        </p:spPr>
        <p:txBody>
          <a:bodyPr lIns="91439" tIns="45719" rIns="91439" bIns="45719">
            <a:noAutofit/>
          </a:bodyPr>
          <a:lstStyle/>
          <a:p>
            <a:endParaRPr/>
          </a:p>
        </p:txBody>
      </p:sp>
      <p:sp>
        <p:nvSpPr>
          <p:cNvPr id="12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Photo">
    <p:bg>
      <p:bgPr>
        <a:solidFill>
          <a:srgbClr val="FFFFFF"/>
        </a:solidFill>
        <a:effectLst/>
      </p:bgPr>
    </p:bg>
    <p:spTree>
      <p:nvGrpSpPr>
        <p:cNvPr id="1" name=""/>
        <p:cNvGrpSpPr/>
        <p:nvPr/>
      </p:nvGrpSpPr>
      <p:grpSpPr>
        <a:xfrm>
          <a:off x="0" y="0"/>
          <a:ext cx="0" cy="0"/>
          <a:chOff x="0" y="0"/>
          <a:chExt cx="0" cy="0"/>
        </a:xfrm>
      </p:grpSpPr>
      <p:sp>
        <p:nvSpPr>
          <p:cNvPr id="134" name="Low-angle view of the Azadi Tower in Tehran, Iran against a clear, bright sky"/>
          <p:cNvSpPr>
            <a:spLocks noGrp="1"/>
          </p:cNvSpPr>
          <p:nvPr>
            <p:ph type="pic" idx="21"/>
          </p:nvPr>
        </p:nvSpPr>
        <p:spPr>
          <a:xfrm>
            <a:off x="0" y="-1282700"/>
            <a:ext cx="24384000" cy="16281400"/>
          </a:xfrm>
          <a:prstGeom prst="rect">
            <a:avLst/>
          </a:prstGeom>
        </p:spPr>
        <p:txBody>
          <a:bodyPr lIns="91439" tIns="45719" rIns="91439" bIns="45719">
            <a:noAutofit/>
          </a:bodyPr>
          <a:lstStyle/>
          <a:p>
            <a:endParaRPr/>
          </a:p>
        </p:txBody>
      </p:sp>
      <p:sp>
        <p:nvSpPr>
          <p:cNvPr id="135"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4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7"/>
          <a:srcRect/>
          <a:stretch>
            <a:fillRect/>
          </a:stretch>
        </a:blip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med"/>
  <p:txStyles>
    <p:titleStyle>
      <a:lvl1pPr marL="0" marR="0" indent="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51" name="Submitted By :"/>
          <p:cNvSpPr txBox="1">
            <a:spLocks noGrp="1"/>
          </p:cNvSpPr>
          <p:nvPr>
            <p:ph type="body" idx="21"/>
          </p:nvPr>
        </p:nvSpPr>
        <p:spPr>
          <a:xfrm>
            <a:off x="490436" y="9312018"/>
            <a:ext cx="21971003" cy="74352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marL="255569" indent="-187960" defTabSz="975335">
              <a:lnSpc>
                <a:spcPct val="90000"/>
              </a:lnSpc>
              <a:defRPr sz="4320" b="0" spc="-86">
                <a:latin typeface="Helvetica Neue Medium"/>
                <a:ea typeface="Helvetica Neue Medium"/>
                <a:cs typeface="Helvetica Neue Medium"/>
                <a:sym typeface="Helvetica Neue Medium"/>
              </a:defRPr>
            </a:lvl1pPr>
          </a:lstStyle>
          <a:p>
            <a:r>
              <a:rPr dirty="0"/>
              <a:t>Submitted By :</a:t>
            </a:r>
          </a:p>
        </p:txBody>
      </p:sp>
      <p:sp>
        <p:nvSpPr>
          <p:cNvPr id="152" name="E-COMMERCE PRO SHOP"/>
          <p:cNvSpPr txBox="1">
            <a:spLocks noGrp="1"/>
          </p:cNvSpPr>
          <p:nvPr>
            <p:ph type="ctrTitle"/>
          </p:nvPr>
        </p:nvSpPr>
        <p:spPr>
          <a:xfrm>
            <a:off x="2713697" y="750430"/>
            <a:ext cx="18956606" cy="2017765"/>
          </a:xfrm>
          <a:prstGeom prst="rect">
            <a:avLst/>
          </a:prstGeom>
        </p:spPr>
        <p:txBody>
          <a:bodyPr/>
          <a:lstStyle>
            <a:lvl1pPr>
              <a:defRPr>
                <a:solidFill>
                  <a:srgbClr val="D5D5D5"/>
                </a:solidFill>
              </a:defRPr>
            </a:lvl1pPr>
          </a:lstStyle>
          <a:p>
            <a:r>
              <a:t>E-COMMERCE PRO SHOP</a:t>
            </a:r>
          </a:p>
        </p:txBody>
      </p:sp>
      <p:sp>
        <p:nvSpPr>
          <p:cNvPr id="153" name="Industrial Training Report"/>
          <p:cNvSpPr txBox="1">
            <a:spLocks noGrp="1"/>
          </p:cNvSpPr>
          <p:nvPr>
            <p:ph type="subTitle" sz="quarter" idx="1"/>
          </p:nvPr>
        </p:nvSpPr>
        <p:spPr>
          <a:xfrm>
            <a:off x="1206500" y="3076252"/>
            <a:ext cx="21971000" cy="1905001"/>
          </a:xfrm>
          <a:prstGeom prst="rect">
            <a:avLst/>
          </a:prstGeom>
        </p:spPr>
        <p:txBody>
          <a:bodyPr/>
          <a:lstStyle>
            <a:lvl1pPr algn="ctr">
              <a:defRPr sz="6400" i="1">
                <a:solidFill>
                  <a:srgbClr val="D5D5D5"/>
                </a:solidFill>
              </a:defRPr>
            </a:lvl1pPr>
          </a:lstStyle>
          <a:p>
            <a:r>
              <a:t>Industrial Training Report</a:t>
            </a:r>
          </a:p>
        </p:txBody>
      </p:sp>
      <p:sp>
        <p:nvSpPr>
          <p:cNvPr id="154" name="Karanveer Singh…"/>
          <p:cNvSpPr txBox="1"/>
          <p:nvPr/>
        </p:nvSpPr>
        <p:spPr>
          <a:xfrm>
            <a:off x="670614" y="11673123"/>
            <a:ext cx="7713168" cy="275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marL="609599" indent="-609599" algn="l">
              <a:lnSpc>
                <a:spcPts val="700"/>
              </a:lnSpc>
              <a:spcBef>
                <a:spcPts val="4500"/>
              </a:spcBef>
              <a:buSzPct val="123000"/>
              <a:buChar char="•"/>
              <a:defRPr sz="3600">
                <a:solidFill>
                  <a:srgbClr val="000000"/>
                </a:solidFill>
              </a:defRPr>
            </a:pP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56" name="INTRODUCTION"/>
          <p:cNvSpPr txBox="1">
            <a:spLocks noGrp="1"/>
          </p:cNvSpPr>
          <p:nvPr>
            <p:ph type="title"/>
          </p:nvPr>
        </p:nvSpPr>
        <p:spPr>
          <a:xfrm>
            <a:off x="732564" y="724048"/>
            <a:ext cx="21971001" cy="1145099"/>
          </a:xfrm>
          <a:prstGeom prst="rect">
            <a:avLst/>
          </a:prstGeom>
        </p:spPr>
        <p:txBody>
          <a:bodyPr/>
          <a:lstStyle>
            <a:lvl1pPr defTabSz="2340805">
              <a:lnSpc>
                <a:spcPct val="90000"/>
              </a:lnSpc>
              <a:defRPr sz="6911" u="sng" spc="-138">
                <a:solidFill>
                  <a:srgbClr val="D5D5D5"/>
                </a:solidFill>
              </a:defRPr>
            </a:lvl1pPr>
          </a:lstStyle>
          <a:p>
            <a:r>
              <a:t>INTRODUCTION</a:t>
            </a:r>
          </a:p>
        </p:txBody>
      </p:sp>
      <p:sp>
        <p:nvSpPr>
          <p:cNvPr id="157" name="ProShop is the buying and selling of services, or the transmitting of funds or data, over an electronic network, primarily the internet. These business transactions occur either as business-to-business, business-to consumer, consumer-to-consumer or consu"/>
          <p:cNvSpPr txBox="1">
            <a:spLocks noGrp="1"/>
          </p:cNvSpPr>
          <p:nvPr>
            <p:ph type="body" idx="1"/>
          </p:nvPr>
        </p:nvSpPr>
        <p:spPr>
          <a:xfrm>
            <a:off x="732564" y="2729994"/>
            <a:ext cx="21971001" cy="8256012"/>
          </a:xfrm>
          <a:prstGeom prst="rect">
            <a:avLst/>
          </a:prstGeom>
        </p:spPr>
        <p:txBody>
          <a:bodyPr/>
          <a:lstStyle/>
          <a:p>
            <a:pPr marL="0" indent="0" algn="just" defTabSz="411479">
              <a:lnSpc>
                <a:spcPct val="115000"/>
              </a:lnSpc>
              <a:spcBef>
                <a:spcPts val="0"/>
              </a:spcBef>
              <a:buSzTx/>
              <a:buNone/>
              <a:defRPr sz="4319">
                <a:solidFill>
                  <a:srgbClr val="D5D5D5"/>
                </a:solidFill>
                <a:uFill>
                  <a:solidFill>
                    <a:srgbClr val="000000"/>
                  </a:solidFill>
                </a:uFill>
                <a:latin typeface="Helvetica Neue Thin"/>
                <a:ea typeface="Helvetica Neue Thin"/>
                <a:cs typeface="Helvetica Neue Thin"/>
                <a:sym typeface="Helvetica Neue Thin"/>
              </a:defRPr>
            </a:pPr>
            <a:r>
              <a:t>ProShop is the buying and selling of services, or the transmitting of funds or data, over an electronic network, primarily the internet. These business transactions occur either as business-to-business, business-to consumer, consumer-to-consumer or consumer-to-business.</a:t>
            </a:r>
          </a:p>
          <a:p>
            <a:pPr marL="0" indent="0" defTabSz="411479">
              <a:lnSpc>
                <a:spcPct val="115000"/>
              </a:lnSpc>
              <a:spcBef>
                <a:spcPts val="0"/>
              </a:spcBef>
              <a:buSzTx/>
              <a:buNone/>
              <a:defRPr sz="4319">
                <a:solidFill>
                  <a:srgbClr val="D5D5D5"/>
                </a:solidFill>
                <a:uFill>
                  <a:solidFill>
                    <a:srgbClr val="000000"/>
                  </a:solidFill>
                </a:uFill>
                <a:latin typeface="Helvetica Neue Thin"/>
                <a:ea typeface="Helvetica Neue Thin"/>
                <a:cs typeface="Helvetica Neue Thin"/>
                <a:sym typeface="Helvetica Neue Thin"/>
              </a:defRPr>
            </a:pPr>
            <a:endParaRPr/>
          </a:p>
          <a:p>
            <a:pPr marL="0" indent="0" defTabSz="411479">
              <a:lnSpc>
                <a:spcPct val="115000"/>
              </a:lnSpc>
              <a:spcBef>
                <a:spcPts val="0"/>
              </a:spcBef>
              <a:buSzTx/>
              <a:buNone/>
              <a:defRPr sz="4319">
                <a:solidFill>
                  <a:srgbClr val="D5D5D5"/>
                </a:solidFill>
                <a:uFill>
                  <a:solidFill>
                    <a:srgbClr val="000000"/>
                  </a:solidFill>
                </a:uFill>
                <a:latin typeface="Helvetica Neue Thin"/>
                <a:ea typeface="Helvetica Neue Thin"/>
                <a:cs typeface="Helvetica Neue Thin"/>
                <a:sym typeface="Helvetica Neue Thin"/>
              </a:defRPr>
            </a:pPr>
            <a:r>
              <a:t>E-commerce shops have become part of our daily lives. Technological advancement has made it possible for people to sit in the convenience of their homes and still shop online without going to a physical shop. Indian have also joined the trend of e-commerce business, so this project is meant to design an e-commerce online shop so that the people in India will be able to purchase their goods and services online.</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59" name="TECHNOLOGIES USED"/>
          <p:cNvSpPr txBox="1">
            <a:spLocks noGrp="1"/>
          </p:cNvSpPr>
          <p:nvPr>
            <p:ph type="title"/>
          </p:nvPr>
        </p:nvSpPr>
        <p:spPr>
          <a:xfrm>
            <a:off x="756260" y="700351"/>
            <a:ext cx="21971001" cy="1433164"/>
          </a:xfrm>
          <a:prstGeom prst="rect">
            <a:avLst/>
          </a:prstGeom>
        </p:spPr>
        <p:txBody>
          <a:bodyPr/>
          <a:lstStyle>
            <a:lvl1pPr>
              <a:defRPr sz="6400" u="sng" spc="-128">
                <a:solidFill>
                  <a:srgbClr val="DFDCFF"/>
                </a:solidFill>
              </a:defRPr>
            </a:lvl1pPr>
          </a:lstStyle>
          <a:p>
            <a:r>
              <a:t>TECHNOLOGIES USED</a:t>
            </a:r>
          </a:p>
        </p:txBody>
      </p:sp>
      <p:sp>
        <p:nvSpPr>
          <p:cNvPr id="160" name="MERN :  MERN stands for MongoDB, Express, React and Node"/>
          <p:cNvSpPr txBox="1">
            <a:spLocks noGrp="1"/>
          </p:cNvSpPr>
          <p:nvPr>
            <p:ph type="body" idx="21"/>
          </p:nvPr>
        </p:nvSpPr>
        <p:spPr>
          <a:xfrm>
            <a:off x="756260" y="2355185"/>
            <a:ext cx="21971001" cy="93478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a:defRPr sz="4800">
                <a:solidFill>
                  <a:srgbClr val="F0F4FF"/>
                </a:solidFill>
              </a:defRPr>
            </a:pPr>
            <a:r>
              <a:t>MERN :  </a:t>
            </a:r>
            <a:r>
              <a:rPr b="0">
                <a:latin typeface="Helvetica Neue Thin"/>
                <a:ea typeface="Helvetica Neue Thin"/>
                <a:cs typeface="Helvetica Neue Thin"/>
                <a:sym typeface="Helvetica Neue Thin"/>
              </a:rPr>
              <a:t>MERN stands for MongoDB, Express, React and Node</a:t>
            </a:r>
          </a:p>
        </p:txBody>
      </p:sp>
      <p:sp>
        <p:nvSpPr>
          <p:cNvPr id="161" name="MongoDB : An open-source cross platform document-oriented NoSQL Database…"/>
          <p:cNvSpPr txBox="1"/>
          <p:nvPr/>
        </p:nvSpPr>
        <p:spPr>
          <a:xfrm>
            <a:off x="660709" y="5024113"/>
            <a:ext cx="24824196" cy="36677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marL="304800" indent="-304800" algn="l">
              <a:lnSpc>
                <a:spcPts val="7500"/>
              </a:lnSpc>
              <a:buSzPct val="123000"/>
              <a:buChar char="•"/>
              <a:defRPr sz="4800">
                <a:solidFill>
                  <a:srgbClr val="FFFFFF"/>
                </a:solidFill>
              </a:defRPr>
            </a:pPr>
            <a:r>
              <a:t>MongoDB : </a:t>
            </a:r>
            <a:r>
              <a:rPr>
                <a:latin typeface="Helvetica Neue Thin"/>
                <a:ea typeface="Helvetica Neue Thin"/>
                <a:cs typeface="Helvetica Neue Thin"/>
                <a:sym typeface="Helvetica Neue Thin"/>
              </a:rPr>
              <a:t>An open-source cross platform document-oriented NoSQL Database</a:t>
            </a:r>
          </a:p>
          <a:p>
            <a:pPr marL="304800" indent="-304800" algn="l">
              <a:lnSpc>
                <a:spcPts val="7500"/>
              </a:lnSpc>
              <a:buSzPct val="123000"/>
              <a:buChar char="•"/>
              <a:defRPr sz="4800">
                <a:solidFill>
                  <a:srgbClr val="FFFFFF"/>
                </a:solidFill>
              </a:defRPr>
            </a:pPr>
            <a:r>
              <a:t>Express : </a:t>
            </a:r>
            <a:r>
              <a:rPr>
                <a:latin typeface="Helvetica Neue Thin"/>
                <a:ea typeface="Helvetica Neue Thin"/>
                <a:cs typeface="Helvetica Neue Thin"/>
                <a:sym typeface="Helvetica Neue Thin"/>
              </a:rPr>
              <a:t>Node.js server-side web framework</a:t>
            </a:r>
          </a:p>
          <a:p>
            <a:pPr marL="304800" indent="-304800" algn="l">
              <a:lnSpc>
                <a:spcPts val="7500"/>
              </a:lnSpc>
              <a:buSzPct val="123000"/>
              <a:buChar char="•"/>
              <a:defRPr sz="4800">
                <a:solidFill>
                  <a:srgbClr val="FFFFFF"/>
                </a:solidFill>
              </a:defRPr>
            </a:pPr>
            <a:r>
              <a:t>React : </a:t>
            </a:r>
            <a:r>
              <a:rPr>
                <a:latin typeface="Helvetica Neue Thin"/>
                <a:ea typeface="Helvetica Neue Thin"/>
                <a:cs typeface="Helvetica Neue Thin"/>
                <a:sym typeface="Helvetica Neue Thin"/>
              </a:rPr>
              <a:t>A client-side javascript library</a:t>
            </a:r>
          </a:p>
          <a:p>
            <a:pPr marL="304800" indent="-304800" algn="l">
              <a:lnSpc>
                <a:spcPts val="7500"/>
              </a:lnSpc>
              <a:buSzPct val="123000"/>
              <a:buChar char="•"/>
              <a:defRPr sz="4800">
                <a:solidFill>
                  <a:srgbClr val="FFFFFF"/>
                </a:solidFill>
              </a:defRPr>
            </a:pPr>
            <a:r>
              <a:t>Node : </a:t>
            </a:r>
            <a:r>
              <a:rPr>
                <a:latin typeface="Helvetica Neue Thin"/>
                <a:ea typeface="Helvetica Neue Thin"/>
                <a:cs typeface="Helvetica Neue Thin"/>
                <a:sym typeface="Helvetica Neue Thin"/>
              </a:rPr>
              <a:t>Javascript runtime environment</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MERN Stack Development"/>
          <p:cNvSpPr/>
          <p:nvPr/>
        </p:nvSpPr>
        <p:spPr>
          <a:xfrm>
            <a:off x="7419641" y="1158941"/>
            <a:ext cx="9544718" cy="1270001"/>
          </a:xfrm>
          <a:prstGeom prst="roundRect">
            <a:avLst>
              <a:gd name="adj" fmla="val 15000"/>
            </a:avLst>
          </a:prstGeom>
          <a:solidFill>
            <a:schemeClr val="accent2">
              <a:hueOff val="-202083"/>
              <a:satOff val="17755"/>
              <a:lumOff val="-16089"/>
            </a:schemeClr>
          </a:solidFill>
          <a:ln w="12700">
            <a:miter lim="400000"/>
          </a:ln>
          <a:effectLst>
            <a:reflection stA="50000" endPos="40000" dir="5400000" sy="-100000" algn="bl" rotWithShape="0"/>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defTabSz="825500">
              <a:defRPr sz="5200">
                <a:solidFill>
                  <a:srgbClr val="FFFFFF"/>
                </a:solidFill>
                <a:latin typeface="Helvetica Neue Medium"/>
                <a:ea typeface="Helvetica Neue Medium"/>
                <a:cs typeface="Helvetica Neue Medium"/>
                <a:sym typeface="Helvetica Neue Medium"/>
              </a:defRPr>
            </a:lvl1pPr>
          </a:lstStyle>
          <a:p>
            <a:r>
              <a:t>MERN Stack Development</a:t>
            </a:r>
          </a:p>
        </p:txBody>
      </p:sp>
      <p:sp>
        <p:nvSpPr>
          <p:cNvPr id="164" name="Rounded Rectangle"/>
          <p:cNvSpPr/>
          <p:nvPr/>
        </p:nvSpPr>
        <p:spPr>
          <a:xfrm>
            <a:off x="2173069" y="4185075"/>
            <a:ext cx="5743975" cy="6167092"/>
          </a:xfrm>
          <a:prstGeom prst="roundRect">
            <a:avLst>
              <a:gd name="adj" fmla="val 3834"/>
            </a:avLst>
          </a:prstGeom>
          <a:solidFill>
            <a:schemeClr val="accent2">
              <a:hueOff val="192982"/>
              <a:satOff val="17755"/>
              <a:lumOff val="-28483"/>
              <a:alpha val="24537"/>
            </a:schemeClr>
          </a:solidFill>
          <a:ln w="25400">
            <a:solidFill>
              <a:srgbClr val="000000">
                <a:alpha val="24537"/>
              </a:srgbClr>
            </a:solidFill>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165" name="Rounded Rectangle"/>
          <p:cNvSpPr/>
          <p:nvPr/>
        </p:nvSpPr>
        <p:spPr>
          <a:xfrm>
            <a:off x="9124746" y="4185075"/>
            <a:ext cx="5743974" cy="6167092"/>
          </a:xfrm>
          <a:prstGeom prst="roundRect">
            <a:avLst>
              <a:gd name="adj" fmla="val 3834"/>
            </a:avLst>
          </a:prstGeom>
          <a:solidFill>
            <a:schemeClr val="accent2">
              <a:hueOff val="192982"/>
              <a:satOff val="17755"/>
              <a:lumOff val="-28483"/>
              <a:alpha val="24537"/>
            </a:schemeClr>
          </a:solidFill>
          <a:ln w="25400">
            <a:solidFill>
              <a:srgbClr val="000000">
                <a:alpha val="24537"/>
              </a:srgbClr>
            </a:solidFill>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166" name="Coins"/>
          <p:cNvSpPr/>
          <p:nvPr/>
        </p:nvSpPr>
        <p:spPr>
          <a:xfrm>
            <a:off x="18072848" y="5422538"/>
            <a:ext cx="4200879" cy="4213495"/>
          </a:xfrm>
          <a:custGeom>
            <a:avLst/>
            <a:gdLst/>
            <a:ahLst/>
            <a:cxnLst>
              <a:cxn ang="0">
                <a:pos x="wd2" y="hd2"/>
              </a:cxn>
              <a:cxn ang="5400000">
                <a:pos x="wd2" y="hd2"/>
              </a:cxn>
              <a:cxn ang="10800000">
                <a:pos x="wd2" y="hd2"/>
              </a:cxn>
              <a:cxn ang="16200000">
                <a:pos x="wd2" y="hd2"/>
              </a:cxn>
            </a:cxnLst>
            <a:rect l="0" t="0" r="r" b="b"/>
            <a:pathLst>
              <a:path w="21600" h="21600" extrusionOk="0">
                <a:moveTo>
                  <a:pt x="10801" y="0"/>
                </a:moveTo>
                <a:cubicBezTo>
                  <a:pt x="7949" y="0"/>
                  <a:pt x="5266" y="392"/>
                  <a:pt x="3255" y="1111"/>
                </a:cubicBezTo>
                <a:cubicBezTo>
                  <a:pt x="1360" y="1787"/>
                  <a:pt x="273" y="2685"/>
                  <a:pt x="273" y="3572"/>
                </a:cubicBezTo>
                <a:cubicBezTo>
                  <a:pt x="273" y="4460"/>
                  <a:pt x="1360" y="5360"/>
                  <a:pt x="3255" y="6035"/>
                </a:cubicBezTo>
                <a:cubicBezTo>
                  <a:pt x="5266" y="6749"/>
                  <a:pt x="7949" y="7147"/>
                  <a:pt x="10801" y="7147"/>
                </a:cubicBezTo>
                <a:cubicBezTo>
                  <a:pt x="13652" y="7147"/>
                  <a:pt x="16334" y="6754"/>
                  <a:pt x="18345" y="6035"/>
                </a:cubicBezTo>
                <a:cubicBezTo>
                  <a:pt x="20240" y="5360"/>
                  <a:pt x="21327" y="4460"/>
                  <a:pt x="21327" y="3572"/>
                </a:cubicBezTo>
                <a:cubicBezTo>
                  <a:pt x="21327" y="2685"/>
                  <a:pt x="20240" y="1787"/>
                  <a:pt x="18345" y="1111"/>
                </a:cubicBezTo>
                <a:cubicBezTo>
                  <a:pt x="16334" y="398"/>
                  <a:pt x="13652" y="0"/>
                  <a:pt x="10801" y="0"/>
                </a:cubicBezTo>
                <a:close/>
                <a:moveTo>
                  <a:pt x="12" y="4505"/>
                </a:moveTo>
                <a:lnTo>
                  <a:pt x="12" y="5914"/>
                </a:lnTo>
                <a:cubicBezTo>
                  <a:pt x="12" y="8033"/>
                  <a:pt x="4846" y="9754"/>
                  <a:pt x="10811" y="9754"/>
                </a:cubicBezTo>
                <a:cubicBezTo>
                  <a:pt x="16776" y="9754"/>
                  <a:pt x="21600" y="8039"/>
                  <a:pt x="21600" y="5914"/>
                </a:cubicBezTo>
                <a:lnTo>
                  <a:pt x="21600" y="4505"/>
                </a:lnTo>
                <a:cubicBezTo>
                  <a:pt x="21136" y="5284"/>
                  <a:pt x="20088" y="5991"/>
                  <a:pt x="18531" y="6541"/>
                </a:cubicBezTo>
                <a:cubicBezTo>
                  <a:pt x="16460" y="7276"/>
                  <a:pt x="13718" y="7679"/>
                  <a:pt x="10806" y="7679"/>
                </a:cubicBezTo>
                <a:cubicBezTo>
                  <a:pt x="7894" y="7679"/>
                  <a:pt x="5146" y="7276"/>
                  <a:pt x="3081" y="6541"/>
                </a:cubicBezTo>
                <a:cubicBezTo>
                  <a:pt x="1524" y="5985"/>
                  <a:pt x="476" y="5284"/>
                  <a:pt x="12" y="4505"/>
                </a:cubicBezTo>
                <a:close/>
                <a:moveTo>
                  <a:pt x="0" y="7320"/>
                </a:moveTo>
                <a:lnTo>
                  <a:pt x="0" y="8284"/>
                </a:lnTo>
                <a:cubicBezTo>
                  <a:pt x="0" y="10402"/>
                  <a:pt x="4836" y="12123"/>
                  <a:pt x="10801" y="12123"/>
                </a:cubicBezTo>
                <a:cubicBezTo>
                  <a:pt x="16766" y="12123"/>
                  <a:pt x="21600" y="10408"/>
                  <a:pt x="21600" y="8284"/>
                </a:cubicBezTo>
                <a:lnTo>
                  <a:pt x="21600" y="7320"/>
                </a:lnTo>
                <a:cubicBezTo>
                  <a:pt x="21458" y="7495"/>
                  <a:pt x="21295" y="7664"/>
                  <a:pt x="21098" y="7827"/>
                </a:cubicBezTo>
                <a:cubicBezTo>
                  <a:pt x="20508" y="8329"/>
                  <a:pt x="19672" y="8769"/>
                  <a:pt x="18618" y="9145"/>
                </a:cubicBezTo>
                <a:cubicBezTo>
                  <a:pt x="16520" y="9891"/>
                  <a:pt x="13745" y="10299"/>
                  <a:pt x="10801" y="10299"/>
                </a:cubicBezTo>
                <a:cubicBezTo>
                  <a:pt x="7856" y="10299"/>
                  <a:pt x="5080" y="9891"/>
                  <a:pt x="2982" y="9145"/>
                </a:cubicBezTo>
                <a:cubicBezTo>
                  <a:pt x="1928" y="8769"/>
                  <a:pt x="1099" y="8329"/>
                  <a:pt x="504" y="7827"/>
                </a:cubicBezTo>
                <a:cubicBezTo>
                  <a:pt x="307" y="7664"/>
                  <a:pt x="142" y="7495"/>
                  <a:pt x="0" y="7320"/>
                </a:cubicBezTo>
                <a:close/>
                <a:moveTo>
                  <a:pt x="0" y="9689"/>
                </a:moveTo>
                <a:lnTo>
                  <a:pt x="0" y="10653"/>
                </a:lnTo>
                <a:cubicBezTo>
                  <a:pt x="0" y="12771"/>
                  <a:pt x="4836" y="14492"/>
                  <a:pt x="10801" y="14492"/>
                </a:cubicBezTo>
                <a:cubicBezTo>
                  <a:pt x="16766" y="14492"/>
                  <a:pt x="21600" y="12777"/>
                  <a:pt x="21600" y="10653"/>
                </a:cubicBezTo>
                <a:lnTo>
                  <a:pt x="21600" y="9689"/>
                </a:lnTo>
                <a:cubicBezTo>
                  <a:pt x="21458" y="9864"/>
                  <a:pt x="21295" y="10033"/>
                  <a:pt x="21098" y="10197"/>
                </a:cubicBezTo>
                <a:cubicBezTo>
                  <a:pt x="20508" y="10698"/>
                  <a:pt x="19672" y="11138"/>
                  <a:pt x="18618" y="11514"/>
                </a:cubicBezTo>
                <a:cubicBezTo>
                  <a:pt x="16520" y="12260"/>
                  <a:pt x="13745" y="12668"/>
                  <a:pt x="10801" y="12668"/>
                </a:cubicBezTo>
                <a:cubicBezTo>
                  <a:pt x="7856" y="12668"/>
                  <a:pt x="5080" y="12260"/>
                  <a:pt x="2982" y="11514"/>
                </a:cubicBezTo>
                <a:cubicBezTo>
                  <a:pt x="1928" y="11138"/>
                  <a:pt x="1099" y="10698"/>
                  <a:pt x="504" y="10197"/>
                </a:cubicBezTo>
                <a:cubicBezTo>
                  <a:pt x="307" y="10033"/>
                  <a:pt x="142" y="9864"/>
                  <a:pt x="0" y="9689"/>
                </a:cubicBezTo>
                <a:close/>
                <a:moveTo>
                  <a:pt x="0" y="12059"/>
                </a:moveTo>
                <a:lnTo>
                  <a:pt x="0" y="13022"/>
                </a:lnTo>
                <a:cubicBezTo>
                  <a:pt x="0" y="15141"/>
                  <a:pt x="4836" y="16862"/>
                  <a:pt x="10801" y="16862"/>
                </a:cubicBezTo>
                <a:cubicBezTo>
                  <a:pt x="16766" y="16862"/>
                  <a:pt x="21600" y="15146"/>
                  <a:pt x="21600" y="13022"/>
                </a:cubicBezTo>
                <a:lnTo>
                  <a:pt x="21600" y="12059"/>
                </a:lnTo>
                <a:cubicBezTo>
                  <a:pt x="21458" y="12233"/>
                  <a:pt x="21295" y="12402"/>
                  <a:pt x="21098" y="12566"/>
                </a:cubicBezTo>
                <a:cubicBezTo>
                  <a:pt x="20508" y="13067"/>
                  <a:pt x="19672" y="13507"/>
                  <a:pt x="18618" y="13883"/>
                </a:cubicBezTo>
                <a:cubicBezTo>
                  <a:pt x="16520" y="14629"/>
                  <a:pt x="13745" y="15037"/>
                  <a:pt x="10801" y="15037"/>
                </a:cubicBezTo>
                <a:cubicBezTo>
                  <a:pt x="7856" y="15037"/>
                  <a:pt x="5080" y="14629"/>
                  <a:pt x="2982" y="13883"/>
                </a:cubicBezTo>
                <a:cubicBezTo>
                  <a:pt x="1928" y="13507"/>
                  <a:pt x="1099" y="13067"/>
                  <a:pt x="504" y="12566"/>
                </a:cubicBezTo>
                <a:cubicBezTo>
                  <a:pt x="307" y="12402"/>
                  <a:pt x="142" y="12233"/>
                  <a:pt x="0" y="12059"/>
                </a:cubicBezTo>
                <a:close/>
                <a:moveTo>
                  <a:pt x="0" y="14428"/>
                </a:moveTo>
                <a:lnTo>
                  <a:pt x="0" y="15391"/>
                </a:lnTo>
                <a:cubicBezTo>
                  <a:pt x="0" y="17510"/>
                  <a:pt x="4836" y="19231"/>
                  <a:pt x="10801" y="19231"/>
                </a:cubicBezTo>
                <a:cubicBezTo>
                  <a:pt x="16766" y="19231"/>
                  <a:pt x="21600" y="17515"/>
                  <a:pt x="21600" y="15391"/>
                </a:cubicBezTo>
                <a:lnTo>
                  <a:pt x="21600" y="14428"/>
                </a:lnTo>
                <a:cubicBezTo>
                  <a:pt x="21458" y="14602"/>
                  <a:pt x="21295" y="14772"/>
                  <a:pt x="21098" y="14935"/>
                </a:cubicBezTo>
                <a:cubicBezTo>
                  <a:pt x="20508" y="15436"/>
                  <a:pt x="19672" y="15877"/>
                  <a:pt x="18618" y="16252"/>
                </a:cubicBezTo>
                <a:cubicBezTo>
                  <a:pt x="16520" y="16998"/>
                  <a:pt x="13745" y="17406"/>
                  <a:pt x="10801" y="17406"/>
                </a:cubicBezTo>
                <a:cubicBezTo>
                  <a:pt x="7856" y="17406"/>
                  <a:pt x="5080" y="16998"/>
                  <a:pt x="2982" y="16252"/>
                </a:cubicBezTo>
                <a:cubicBezTo>
                  <a:pt x="1928" y="15877"/>
                  <a:pt x="1099" y="15436"/>
                  <a:pt x="504" y="14935"/>
                </a:cubicBezTo>
                <a:cubicBezTo>
                  <a:pt x="307" y="14772"/>
                  <a:pt x="142" y="14602"/>
                  <a:pt x="0" y="14428"/>
                </a:cubicBezTo>
                <a:close/>
                <a:moveTo>
                  <a:pt x="0" y="16797"/>
                </a:moveTo>
                <a:lnTo>
                  <a:pt x="0" y="17760"/>
                </a:lnTo>
                <a:cubicBezTo>
                  <a:pt x="0" y="19879"/>
                  <a:pt x="4836" y="21600"/>
                  <a:pt x="10801" y="21600"/>
                </a:cubicBezTo>
                <a:cubicBezTo>
                  <a:pt x="16766" y="21600"/>
                  <a:pt x="21600" y="19879"/>
                  <a:pt x="21600" y="17760"/>
                </a:cubicBezTo>
                <a:lnTo>
                  <a:pt x="21600" y="16797"/>
                </a:lnTo>
                <a:cubicBezTo>
                  <a:pt x="21458" y="16971"/>
                  <a:pt x="21295" y="17141"/>
                  <a:pt x="21098" y="17304"/>
                </a:cubicBezTo>
                <a:cubicBezTo>
                  <a:pt x="20508" y="17805"/>
                  <a:pt x="19672" y="18246"/>
                  <a:pt x="18618" y="18622"/>
                </a:cubicBezTo>
                <a:cubicBezTo>
                  <a:pt x="16520" y="19368"/>
                  <a:pt x="13745" y="19775"/>
                  <a:pt x="10801" y="19775"/>
                </a:cubicBezTo>
                <a:cubicBezTo>
                  <a:pt x="7856" y="19775"/>
                  <a:pt x="5080" y="19368"/>
                  <a:pt x="2982" y="18622"/>
                </a:cubicBezTo>
                <a:cubicBezTo>
                  <a:pt x="1928" y="18246"/>
                  <a:pt x="1099" y="17805"/>
                  <a:pt x="504" y="17304"/>
                </a:cubicBezTo>
                <a:cubicBezTo>
                  <a:pt x="307" y="17141"/>
                  <a:pt x="142" y="16971"/>
                  <a:pt x="0" y="16797"/>
                </a:cubicBezTo>
                <a:close/>
              </a:path>
            </a:pathLst>
          </a:custGeom>
          <a:solidFill>
            <a:schemeClr val="accent2">
              <a:hueOff val="-202083"/>
              <a:satOff val="17755"/>
              <a:lumOff val="-16089"/>
            </a:schemeClr>
          </a:solidFill>
          <a:ln w="12700">
            <a:miter lim="400000"/>
          </a:ln>
        </p:spPr>
        <p:txBody>
          <a:bodyPr lIns="50800" tIns="50800" rIns="50800" bIns="50800" anchor="ctr"/>
          <a:lstStyle/>
          <a:p>
            <a:pPr defTabSz="825500">
              <a:defRPr sz="3200">
                <a:solidFill>
                  <a:srgbClr val="000000"/>
                </a:solidFill>
                <a:latin typeface="Helvetica Neue Medium"/>
                <a:ea typeface="Helvetica Neue Medium"/>
                <a:cs typeface="Helvetica Neue Medium"/>
                <a:sym typeface="Helvetica Neue Medium"/>
              </a:defRPr>
            </a:pPr>
            <a:endParaRPr/>
          </a:p>
        </p:txBody>
      </p:sp>
      <p:sp>
        <p:nvSpPr>
          <p:cNvPr id="167" name="React JS"/>
          <p:cNvSpPr/>
          <p:nvPr/>
        </p:nvSpPr>
        <p:spPr>
          <a:xfrm>
            <a:off x="3062116" y="4635314"/>
            <a:ext cx="3965881" cy="1270001"/>
          </a:xfrm>
          <a:prstGeom prst="roundRect">
            <a:avLst>
              <a:gd name="adj" fmla="val 15000"/>
            </a:avLst>
          </a:prstGeom>
          <a:solidFill>
            <a:srgbClr val="00A1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defTabSz="825500">
              <a:defRPr sz="3200">
                <a:solidFill>
                  <a:srgbClr val="FFFFFF"/>
                </a:solidFill>
                <a:latin typeface="Helvetica Neue Medium"/>
                <a:ea typeface="Helvetica Neue Medium"/>
                <a:cs typeface="Helvetica Neue Medium"/>
                <a:sym typeface="Helvetica Neue Medium"/>
              </a:defRPr>
            </a:lvl1pPr>
          </a:lstStyle>
          <a:p>
            <a:r>
              <a:t>React JS</a:t>
            </a:r>
          </a:p>
        </p:txBody>
      </p:sp>
      <p:sp>
        <p:nvSpPr>
          <p:cNvPr id="168" name="HTML…"/>
          <p:cNvSpPr txBox="1"/>
          <p:nvPr/>
        </p:nvSpPr>
        <p:spPr>
          <a:xfrm>
            <a:off x="3062116" y="6684852"/>
            <a:ext cx="3965881" cy="20206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marL="304800" indent="-304800" algn="l">
              <a:buSzPct val="123000"/>
              <a:buChar char="•"/>
              <a:defRPr sz="3200"/>
            </a:pPr>
            <a:r>
              <a:t>HTML</a:t>
            </a:r>
          </a:p>
          <a:p>
            <a:pPr marL="304800" indent="-304800" algn="l">
              <a:buSzPct val="123000"/>
              <a:buChar char="•"/>
              <a:defRPr sz="3200"/>
            </a:pPr>
            <a:r>
              <a:t>CSS</a:t>
            </a:r>
          </a:p>
          <a:p>
            <a:pPr marL="304800" indent="-304800" algn="l">
              <a:buSzPct val="123000"/>
              <a:buChar char="•"/>
              <a:defRPr sz="3200"/>
            </a:pPr>
            <a:r>
              <a:t>Javascript</a:t>
            </a:r>
          </a:p>
          <a:p>
            <a:pPr marL="304800" indent="-304800" algn="l">
              <a:buSzPct val="123000"/>
              <a:buChar char="•"/>
              <a:defRPr sz="3200"/>
            </a:pPr>
            <a:r>
              <a:t>Bootstrap</a:t>
            </a:r>
          </a:p>
        </p:txBody>
      </p:sp>
      <p:sp>
        <p:nvSpPr>
          <p:cNvPr id="169" name="Express"/>
          <p:cNvSpPr/>
          <p:nvPr/>
        </p:nvSpPr>
        <p:spPr>
          <a:xfrm>
            <a:off x="10013792" y="4635314"/>
            <a:ext cx="3965882" cy="1270001"/>
          </a:xfrm>
          <a:prstGeom prst="roundRect">
            <a:avLst>
              <a:gd name="adj" fmla="val 15000"/>
            </a:avLst>
          </a:prstGeom>
          <a:solidFill>
            <a:srgbClr val="00A1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defTabSz="825500">
              <a:defRPr sz="3200">
                <a:solidFill>
                  <a:srgbClr val="FFFFFF"/>
                </a:solidFill>
                <a:latin typeface="Helvetica Neue Medium"/>
                <a:ea typeface="Helvetica Neue Medium"/>
                <a:cs typeface="Helvetica Neue Medium"/>
                <a:sym typeface="Helvetica Neue Medium"/>
              </a:defRPr>
            </a:lvl1pPr>
          </a:lstStyle>
          <a:p>
            <a:r>
              <a:t>Express</a:t>
            </a:r>
          </a:p>
        </p:txBody>
      </p:sp>
      <p:sp>
        <p:nvSpPr>
          <p:cNvPr id="170" name="Mongoose"/>
          <p:cNvSpPr/>
          <p:nvPr/>
        </p:nvSpPr>
        <p:spPr>
          <a:xfrm>
            <a:off x="10013792" y="7741509"/>
            <a:ext cx="3965882" cy="1270001"/>
          </a:xfrm>
          <a:prstGeom prst="roundRect">
            <a:avLst>
              <a:gd name="adj" fmla="val 15000"/>
            </a:avLst>
          </a:prstGeom>
          <a:solidFill>
            <a:srgbClr val="00A1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defTabSz="825500">
              <a:defRPr sz="3200">
                <a:solidFill>
                  <a:srgbClr val="FFFFFF"/>
                </a:solidFill>
                <a:latin typeface="Helvetica Neue Medium"/>
                <a:ea typeface="Helvetica Neue Medium"/>
                <a:cs typeface="Helvetica Neue Medium"/>
                <a:sym typeface="Helvetica Neue Medium"/>
              </a:defRPr>
            </a:lvl1pPr>
          </a:lstStyle>
          <a:p>
            <a:r>
              <a:t>Mongoose</a:t>
            </a:r>
          </a:p>
        </p:txBody>
      </p:sp>
      <p:sp>
        <p:nvSpPr>
          <p:cNvPr id="171" name="Node.js Web Server"/>
          <p:cNvSpPr txBox="1"/>
          <p:nvPr/>
        </p:nvSpPr>
        <p:spPr>
          <a:xfrm>
            <a:off x="10137401" y="9462598"/>
            <a:ext cx="3718663" cy="5728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3200"/>
            </a:lvl1pPr>
          </a:lstStyle>
          <a:p>
            <a:r>
              <a:t>Node.js Web Server</a:t>
            </a:r>
          </a:p>
        </p:txBody>
      </p:sp>
      <p:sp>
        <p:nvSpPr>
          <p:cNvPr id="172" name="Double Arrow"/>
          <p:cNvSpPr/>
          <p:nvPr/>
        </p:nvSpPr>
        <p:spPr>
          <a:xfrm>
            <a:off x="7153793" y="5120497"/>
            <a:ext cx="2734204" cy="299636"/>
          </a:xfrm>
          <a:prstGeom prst="leftRightArrow">
            <a:avLst>
              <a:gd name="adj1" fmla="val 32000"/>
              <a:gd name="adj2" fmla="val 103255"/>
            </a:avLst>
          </a:prstGeom>
          <a:solidFill>
            <a:srgbClr val="0000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173" name="Double Arrow"/>
          <p:cNvSpPr/>
          <p:nvPr/>
        </p:nvSpPr>
        <p:spPr>
          <a:xfrm rot="16200000">
            <a:off x="11234732" y="6708182"/>
            <a:ext cx="1524001" cy="299636"/>
          </a:xfrm>
          <a:prstGeom prst="leftRightArrow">
            <a:avLst>
              <a:gd name="adj1" fmla="val 32000"/>
              <a:gd name="adj2" fmla="val 103255"/>
            </a:avLst>
          </a:prstGeom>
          <a:solidFill>
            <a:srgbClr val="0000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174" name="Double Arrow"/>
          <p:cNvSpPr/>
          <p:nvPr/>
        </p:nvSpPr>
        <p:spPr>
          <a:xfrm>
            <a:off x="14176559" y="8226692"/>
            <a:ext cx="3699404" cy="299636"/>
          </a:xfrm>
          <a:prstGeom prst="leftRightArrow">
            <a:avLst>
              <a:gd name="adj1" fmla="val 32000"/>
              <a:gd name="adj2" fmla="val 103255"/>
            </a:avLst>
          </a:prstGeom>
          <a:solidFill>
            <a:srgbClr val="0000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175" name="MongoDB"/>
          <p:cNvSpPr txBox="1"/>
          <p:nvPr/>
        </p:nvSpPr>
        <p:spPr>
          <a:xfrm>
            <a:off x="19194016" y="9841747"/>
            <a:ext cx="1958544" cy="5728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3200"/>
            </a:lvl1pPr>
          </a:lstStyle>
          <a:p>
            <a:r>
              <a:t>MongoDB</a:t>
            </a:r>
          </a:p>
        </p:txBody>
      </p:sp>
      <p:sp>
        <p:nvSpPr>
          <p:cNvPr id="176" name="Frontend Development"/>
          <p:cNvSpPr txBox="1"/>
          <p:nvPr/>
        </p:nvSpPr>
        <p:spPr>
          <a:xfrm>
            <a:off x="2301348" y="11984401"/>
            <a:ext cx="5487417" cy="7091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4000">
                <a:latin typeface="Helvetica Neue Medium"/>
                <a:ea typeface="Helvetica Neue Medium"/>
                <a:cs typeface="Helvetica Neue Medium"/>
                <a:sym typeface="Helvetica Neue Medium"/>
              </a:defRPr>
            </a:lvl1pPr>
          </a:lstStyle>
          <a:p>
            <a:r>
              <a:t>Frontend Development</a:t>
            </a:r>
          </a:p>
        </p:txBody>
      </p:sp>
      <p:sp>
        <p:nvSpPr>
          <p:cNvPr id="177" name="Backend Development"/>
          <p:cNvSpPr txBox="1"/>
          <p:nvPr/>
        </p:nvSpPr>
        <p:spPr>
          <a:xfrm>
            <a:off x="9271820" y="11984401"/>
            <a:ext cx="5449825" cy="7091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4000">
                <a:latin typeface="Helvetica Neue Medium"/>
                <a:ea typeface="Helvetica Neue Medium"/>
                <a:cs typeface="Helvetica Neue Medium"/>
                <a:sym typeface="Helvetica Neue Medium"/>
              </a:defRPr>
            </a:lvl1pPr>
          </a:lstStyle>
          <a:p>
            <a:r>
              <a:t>Backend Development</a:t>
            </a:r>
          </a:p>
        </p:txBody>
      </p:sp>
      <p:sp>
        <p:nvSpPr>
          <p:cNvPr id="178" name="Database Management"/>
          <p:cNvSpPr txBox="1"/>
          <p:nvPr/>
        </p:nvSpPr>
        <p:spPr>
          <a:xfrm>
            <a:off x="17387161" y="11984401"/>
            <a:ext cx="5572253" cy="7091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4000">
                <a:latin typeface="Helvetica Neue Medium"/>
                <a:ea typeface="Helvetica Neue Medium"/>
                <a:cs typeface="Helvetica Neue Medium"/>
                <a:sym typeface="Helvetica Neue Medium"/>
              </a:defRPr>
            </a:lvl1pPr>
          </a:lstStyle>
          <a:p>
            <a:r>
              <a:t>Database Management</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80" name="FRONTEND TECHNOLOGIES"/>
          <p:cNvSpPr txBox="1"/>
          <p:nvPr/>
        </p:nvSpPr>
        <p:spPr>
          <a:xfrm>
            <a:off x="801379" y="778638"/>
            <a:ext cx="11359389" cy="10686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sz="6400" b="1" u="sng">
                <a:solidFill>
                  <a:srgbClr val="D0CEFF"/>
                </a:solidFill>
              </a:defRPr>
            </a:pPr>
            <a:r>
              <a:rPr>
                <a:solidFill>
                  <a:srgbClr val="FFFFFF"/>
                </a:solidFill>
              </a:rPr>
              <a:t>FRONTEND</a:t>
            </a:r>
            <a:r>
              <a:t> </a:t>
            </a:r>
            <a:r>
              <a:rPr>
                <a:solidFill>
                  <a:srgbClr val="FFFFFF"/>
                </a:solidFill>
              </a:rPr>
              <a:t>TECHNOLOGIES</a:t>
            </a:r>
          </a:p>
        </p:txBody>
      </p:sp>
      <p:sp>
        <p:nvSpPr>
          <p:cNvPr id="181" name="HTML stands for Hyper Text Mark up Language . It provides a means to create structured documents by denoting structural semantics for text such as headings, paragraphs, lists etc. as well as for links, quotes, and other items."/>
          <p:cNvSpPr txBox="1"/>
          <p:nvPr/>
        </p:nvSpPr>
        <p:spPr>
          <a:xfrm>
            <a:off x="3813218" y="3945949"/>
            <a:ext cx="20161666" cy="18402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just" defTabSz="457200">
              <a:defRPr sz="3800">
                <a:solidFill>
                  <a:srgbClr val="FFFFFF"/>
                </a:solidFill>
                <a:latin typeface="Helvetica Neue Thin"/>
                <a:ea typeface="Helvetica Neue Thin"/>
                <a:cs typeface="Helvetica Neue Thin"/>
                <a:sym typeface="Helvetica Neue Thin"/>
              </a:defRPr>
            </a:lvl1pPr>
          </a:lstStyle>
          <a:p>
            <a:r>
              <a:t>HTML stands for Hyper Text Mark up Language . It provides a means to create structured documents by denoting structural semantics for text such as headings, paragraphs, lists etc. as well as for links, quotes, and other items. </a:t>
            </a:r>
          </a:p>
        </p:txBody>
      </p:sp>
      <p:pic>
        <p:nvPicPr>
          <p:cNvPr id="182" name="html5-logo.png" descr="html5-logo.png"/>
          <p:cNvPicPr>
            <a:picLocks noChangeAspect="1"/>
          </p:cNvPicPr>
          <p:nvPr/>
        </p:nvPicPr>
        <p:blipFill>
          <a:blip r:embed="rId3"/>
          <a:stretch>
            <a:fillRect/>
          </a:stretch>
        </p:blipFill>
        <p:spPr>
          <a:xfrm>
            <a:off x="-21105" y="3155553"/>
            <a:ext cx="3420994" cy="3420994"/>
          </a:xfrm>
          <a:prstGeom prst="rect">
            <a:avLst/>
          </a:prstGeom>
          <a:ln w="12700">
            <a:miter lim="400000"/>
          </a:ln>
        </p:spPr>
      </p:pic>
      <p:pic>
        <p:nvPicPr>
          <p:cNvPr id="183" name="css3-logo.png" descr="css3-logo.png"/>
          <p:cNvPicPr>
            <a:picLocks noChangeAspect="1"/>
          </p:cNvPicPr>
          <p:nvPr/>
        </p:nvPicPr>
        <p:blipFill>
          <a:blip r:embed="rId4"/>
          <a:stretch>
            <a:fillRect/>
          </a:stretch>
        </p:blipFill>
        <p:spPr>
          <a:xfrm>
            <a:off x="628869" y="7884838"/>
            <a:ext cx="2121045" cy="2991666"/>
          </a:xfrm>
          <a:prstGeom prst="rect">
            <a:avLst/>
          </a:prstGeom>
          <a:ln w="12700">
            <a:miter lim="400000"/>
          </a:ln>
        </p:spPr>
      </p:pic>
      <p:sp>
        <p:nvSpPr>
          <p:cNvPr id="184" name="CSS stands for Cascading Style Sheets. It is used to style a webpage. It can control the layout of multiple web pages all at once. External stylesheets are stored in CSS files."/>
          <p:cNvSpPr txBox="1"/>
          <p:nvPr/>
        </p:nvSpPr>
        <p:spPr>
          <a:xfrm>
            <a:off x="3813218" y="8752670"/>
            <a:ext cx="20161666" cy="12560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l" defTabSz="457200">
              <a:defRPr sz="3800">
                <a:solidFill>
                  <a:srgbClr val="FFFFFF"/>
                </a:solidFill>
                <a:latin typeface="Helvetica Neue Thin"/>
                <a:ea typeface="Helvetica Neue Thin"/>
                <a:cs typeface="Helvetica Neue Thin"/>
                <a:sym typeface="Helvetica Neue Thin"/>
              </a:defRPr>
            </a:lvl1pPr>
          </a:lstStyle>
          <a:p>
            <a:r>
              <a:t>CSS stands for Cascading Style Sheets. It is used to style a webpage. It can control the layout of multiple web pages all at once. External stylesheets are stored in CSS files. </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86" name="JavaScript is the most popular programming language in the world and that makes it a programmer’s great choice. Once you learnt JavaScript, it helps you developing great front-end as well as back-end software using different JavaScript based frameworks l"/>
          <p:cNvSpPr txBox="1"/>
          <p:nvPr/>
        </p:nvSpPr>
        <p:spPr>
          <a:xfrm>
            <a:off x="4028328" y="1386695"/>
            <a:ext cx="20161667" cy="18402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l" defTabSz="457200">
              <a:defRPr sz="3800">
                <a:solidFill>
                  <a:srgbClr val="FFFFFF"/>
                </a:solidFill>
                <a:latin typeface="Helvetica Neue Thin"/>
                <a:ea typeface="Helvetica Neue Thin"/>
                <a:cs typeface="Helvetica Neue Thin"/>
                <a:sym typeface="Helvetica Neue Thin"/>
              </a:defRPr>
            </a:lvl1pPr>
          </a:lstStyle>
          <a:p>
            <a:r>
              <a:t>JavaScript is the most popular programming language in the world and that makes it a programmer’s great choice. Once you learnt JavaScript, it helps you developing great front-end as well as back-end software using different JavaScript based frameworks like jQuery, Node.JS etc.</a:t>
            </a:r>
          </a:p>
        </p:txBody>
      </p:sp>
      <p:sp>
        <p:nvSpPr>
          <p:cNvPr id="187" name="Bootstrap is a free front-end framework for faster and easier web development. Bootstrap includes HTML and CSS based design templates for typography, forms, buttons, tables, navigation, modals, image carousels and many other, as well as optional JavaScri"/>
          <p:cNvSpPr txBox="1"/>
          <p:nvPr/>
        </p:nvSpPr>
        <p:spPr>
          <a:xfrm>
            <a:off x="4028328" y="5630094"/>
            <a:ext cx="20161667" cy="18402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l" defTabSz="457200">
              <a:defRPr sz="3800">
                <a:solidFill>
                  <a:srgbClr val="FFFFFF"/>
                </a:solidFill>
                <a:latin typeface="Helvetica Neue Thin"/>
                <a:ea typeface="Helvetica Neue Thin"/>
                <a:cs typeface="Helvetica Neue Thin"/>
                <a:sym typeface="Helvetica Neue Thin"/>
              </a:defRPr>
            </a:lvl1pPr>
          </a:lstStyle>
          <a:p>
            <a:r>
              <a:t>Bootstrap is a free front-end framework for faster and easier web development. Bootstrap includes HTML and CSS based design templates for typography, forms, buttons, tables, navigation, modals, image carousels and many other, as well as optional JavaScript plugins. </a:t>
            </a:r>
          </a:p>
        </p:txBody>
      </p:sp>
      <p:pic>
        <p:nvPicPr>
          <p:cNvPr id="188" name="javascript-logo.png" descr="javascript-logo.png"/>
          <p:cNvPicPr>
            <a:picLocks noChangeAspect="1"/>
          </p:cNvPicPr>
          <p:nvPr/>
        </p:nvPicPr>
        <p:blipFill>
          <a:blip r:embed="rId3"/>
          <a:stretch>
            <a:fillRect/>
          </a:stretch>
        </p:blipFill>
        <p:spPr>
          <a:xfrm>
            <a:off x="663037" y="1065331"/>
            <a:ext cx="2482931" cy="2482931"/>
          </a:xfrm>
          <a:prstGeom prst="rect">
            <a:avLst/>
          </a:prstGeom>
          <a:ln w="12700">
            <a:miter lim="400000"/>
          </a:ln>
        </p:spPr>
      </p:pic>
      <p:sp>
        <p:nvSpPr>
          <p:cNvPr id="189" name="React is a JavaScript library that is used for building user interfaces. React allows users to code in JavaScript and create UI components. React is used for the development of single-page applications and mobile applications because of its ability to ha"/>
          <p:cNvSpPr txBox="1"/>
          <p:nvPr/>
        </p:nvSpPr>
        <p:spPr>
          <a:xfrm>
            <a:off x="4107935" y="9835761"/>
            <a:ext cx="20161666" cy="24244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l" defTabSz="457200">
              <a:defRPr sz="3800">
                <a:solidFill>
                  <a:srgbClr val="FFFFFF"/>
                </a:solidFill>
                <a:latin typeface="Helvetica Neue Thin"/>
                <a:ea typeface="Helvetica Neue Thin"/>
                <a:cs typeface="Helvetica Neue Thin"/>
                <a:sym typeface="Helvetica Neue Thin"/>
              </a:defRPr>
            </a:lvl1pPr>
          </a:lstStyle>
          <a:p>
            <a:r>
              <a:t>React is a JavaScript library that is used for building user interfaces. React allows users to code in JavaScript and create UI components. React is used for the development of single-page applications and mobile applications because of its ability to handle rapidly changing data. </a:t>
            </a:r>
          </a:p>
        </p:txBody>
      </p:sp>
      <p:pic>
        <p:nvPicPr>
          <p:cNvPr id="190" name="bootstrap-logo.png" descr="bootstrap-logo.png"/>
          <p:cNvPicPr>
            <a:picLocks noChangeAspect="1"/>
          </p:cNvPicPr>
          <p:nvPr/>
        </p:nvPicPr>
        <p:blipFill>
          <a:blip r:embed="rId4"/>
          <a:stretch>
            <a:fillRect/>
          </a:stretch>
        </p:blipFill>
        <p:spPr>
          <a:xfrm>
            <a:off x="346585" y="5308730"/>
            <a:ext cx="3115835" cy="2482931"/>
          </a:xfrm>
          <a:prstGeom prst="rect">
            <a:avLst/>
          </a:prstGeom>
          <a:ln w="12700">
            <a:miter lim="400000"/>
          </a:ln>
        </p:spPr>
      </p:pic>
      <p:pic>
        <p:nvPicPr>
          <p:cNvPr id="191" name="react-logo.png" descr="react-logo.png"/>
          <p:cNvPicPr>
            <a:picLocks noChangeAspect="1"/>
          </p:cNvPicPr>
          <p:nvPr/>
        </p:nvPicPr>
        <p:blipFill>
          <a:blip r:embed="rId5"/>
          <a:stretch>
            <a:fillRect/>
          </a:stretch>
        </p:blipFill>
        <p:spPr>
          <a:xfrm>
            <a:off x="476817" y="9806497"/>
            <a:ext cx="2855370" cy="2482931"/>
          </a:xfrm>
          <a:prstGeom prst="rect">
            <a:avLst/>
          </a:prstGeom>
          <a:ln w="12700">
            <a:miter lim="400000"/>
          </a:ln>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BACKEND TECHNOLOGIES"/>
          <p:cNvSpPr txBox="1"/>
          <p:nvPr/>
        </p:nvSpPr>
        <p:spPr>
          <a:xfrm>
            <a:off x="1042373" y="778638"/>
            <a:ext cx="10877399" cy="10686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6400" b="1" u="sng">
                <a:solidFill>
                  <a:srgbClr val="000000"/>
                </a:solidFill>
              </a:defRPr>
            </a:lvl1pPr>
          </a:lstStyle>
          <a:p>
            <a:r>
              <a:t>BACKEND TECHNOLOGIES</a:t>
            </a:r>
          </a:p>
        </p:txBody>
      </p:sp>
      <p:sp>
        <p:nvSpPr>
          <p:cNvPr id="194" name="Node.js provides a JavaScript Environment which allows the user to run their code on the server (outside the browser).  Node pack manager i.e. npm allows the user to choose from thousands of free packages (node modules) to download."/>
          <p:cNvSpPr txBox="1"/>
          <p:nvPr/>
        </p:nvSpPr>
        <p:spPr>
          <a:xfrm>
            <a:off x="5167730" y="2860698"/>
            <a:ext cx="18447907" cy="18402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l" defTabSz="457200">
              <a:defRPr sz="3800">
                <a:solidFill>
                  <a:srgbClr val="000000"/>
                </a:solidFill>
                <a:latin typeface="Helvetica Neue Thin"/>
                <a:ea typeface="Helvetica Neue Thin"/>
                <a:cs typeface="Helvetica Neue Thin"/>
                <a:sym typeface="Helvetica Neue Thin"/>
              </a:defRPr>
            </a:lvl1pPr>
          </a:lstStyle>
          <a:p>
            <a:r>
              <a:t>Node.js provides a JavaScript Environment which allows the user to run their code on the server (outside the browser).  Node pack manager i.e. npm allows the user to choose from thousands of free packages (node modules) to download.  </a:t>
            </a:r>
          </a:p>
        </p:txBody>
      </p:sp>
      <p:sp>
        <p:nvSpPr>
          <p:cNvPr id="195" name="MongoDB is a NoSQL database where each record is a document comprising of key-value pairs that are similar to JSON (JavaScript Object Notation) objects. MongoDB is flexible and allows its users to create schema, databases, tables, etc. Documents that are"/>
          <p:cNvSpPr txBox="1"/>
          <p:nvPr/>
        </p:nvSpPr>
        <p:spPr>
          <a:xfrm>
            <a:off x="5092844" y="9502118"/>
            <a:ext cx="18476932" cy="24244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l" defTabSz="457200">
              <a:defRPr sz="3800">
                <a:solidFill>
                  <a:srgbClr val="000000"/>
                </a:solidFill>
                <a:latin typeface="Helvetica Neue Thin"/>
                <a:ea typeface="Helvetica Neue Thin"/>
                <a:cs typeface="Helvetica Neue Thin"/>
                <a:sym typeface="Helvetica Neue Thin"/>
              </a:defRPr>
            </a:lvl1pPr>
          </a:lstStyle>
          <a:p>
            <a:r>
              <a:t>MongoDB is a NoSQL database where each record is a document comprising of key-value pairs that are similar to JSON (JavaScript Object Notation) objects. MongoDB is flexible and allows its users to create schema, databases, tables, etc. Documents that are identifiable by a primary key make up the basic unit of MongoDB </a:t>
            </a:r>
          </a:p>
        </p:txBody>
      </p:sp>
      <p:pic>
        <p:nvPicPr>
          <p:cNvPr id="196" name="node-js-logo.png" descr="node-js-logo.png"/>
          <p:cNvPicPr>
            <a:picLocks noChangeAspect="1"/>
          </p:cNvPicPr>
          <p:nvPr/>
        </p:nvPicPr>
        <p:blipFill>
          <a:blip r:embed="rId2"/>
          <a:stretch>
            <a:fillRect/>
          </a:stretch>
        </p:blipFill>
        <p:spPr>
          <a:xfrm>
            <a:off x="1054507" y="2786428"/>
            <a:ext cx="3251074" cy="1988743"/>
          </a:xfrm>
          <a:prstGeom prst="rect">
            <a:avLst/>
          </a:prstGeom>
          <a:ln w="12700">
            <a:miter lim="400000"/>
          </a:ln>
        </p:spPr>
      </p:pic>
      <p:pic>
        <p:nvPicPr>
          <p:cNvPr id="197" name="mongo-db-logo.png" descr="mongo-db-logo.png"/>
          <p:cNvPicPr>
            <a:picLocks noChangeAspect="1"/>
          </p:cNvPicPr>
          <p:nvPr/>
        </p:nvPicPr>
        <p:blipFill>
          <a:blip r:embed="rId3"/>
          <a:stretch>
            <a:fillRect/>
          </a:stretch>
        </p:blipFill>
        <p:spPr>
          <a:xfrm>
            <a:off x="668213" y="10140790"/>
            <a:ext cx="4023662" cy="1147058"/>
          </a:xfrm>
          <a:prstGeom prst="rect">
            <a:avLst/>
          </a:prstGeom>
          <a:ln w="12700">
            <a:miter lim="400000"/>
          </a:ln>
        </p:spPr>
      </p:pic>
      <p:sp>
        <p:nvSpPr>
          <p:cNvPr id="198" name="Express"/>
          <p:cNvSpPr txBox="1"/>
          <p:nvPr/>
        </p:nvSpPr>
        <p:spPr>
          <a:xfrm>
            <a:off x="889109" y="6599044"/>
            <a:ext cx="3581870" cy="12913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8000">
                <a:solidFill>
                  <a:srgbClr val="000000"/>
                </a:solidFill>
                <a:latin typeface="Helvetica Neue Thin"/>
                <a:ea typeface="Helvetica Neue Thin"/>
                <a:cs typeface="Helvetica Neue Thin"/>
                <a:sym typeface="Helvetica Neue Thin"/>
              </a:defRPr>
            </a:lvl1pPr>
          </a:lstStyle>
          <a:p>
            <a:r>
              <a:t>Express</a:t>
            </a:r>
          </a:p>
        </p:txBody>
      </p:sp>
      <p:sp>
        <p:nvSpPr>
          <p:cNvPr id="199" name="Express is a Node.js framework. Rather than writing the code using Node.js and creating loads of Node modules, Express makes it simpler and easier to write the back-end code."/>
          <p:cNvSpPr txBox="1"/>
          <p:nvPr/>
        </p:nvSpPr>
        <p:spPr>
          <a:xfrm>
            <a:off x="5107357" y="6616708"/>
            <a:ext cx="18447907" cy="12560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gn="l" defTabSz="457200">
              <a:defRPr sz="3800">
                <a:solidFill>
                  <a:srgbClr val="000000"/>
                </a:solidFill>
                <a:latin typeface="Helvetica Neue Thin"/>
                <a:ea typeface="Helvetica Neue Thin"/>
                <a:cs typeface="Helvetica Neue Thin"/>
                <a:sym typeface="Helvetica Neue Thin"/>
              </a:defRPr>
            </a:pPr>
            <a:r>
              <a:t>Express is a Node.js framework. Rather than writing the code using Node.js and creating loads of Node modules, Express makes it simpler and easier to write the back-end code.</a:t>
            </a:r>
            <a:r>
              <a:rPr sz="1200">
                <a:latin typeface="Times Roman"/>
                <a:ea typeface="Times Roman"/>
                <a:cs typeface="Times Roman"/>
                <a:sym typeface="Times Roman"/>
              </a:rPr>
              <a:t> </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201" name="proshop-home.png" descr="proshop-home.png"/>
          <p:cNvPicPr>
            <a:picLocks noChangeAspect="1"/>
          </p:cNvPicPr>
          <p:nvPr/>
        </p:nvPicPr>
        <p:blipFill>
          <a:blip r:embed="rId3"/>
          <a:stretch>
            <a:fillRect/>
          </a:stretch>
        </p:blipFill>
        <p:spPr>
          <a:xfrm>
            <a:off x="1976448" y="473280"/>
            <a:ext cx="20431104" cy="12769440"/>
          </a:xfrm>
          <a:prstGeom prst="rect">
            <a:avLst/>
          </a:prstGeom>
          <a:ln w="12700">
            <a:miter lim="400000"/>
          </a:ln>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203" name="proshop-search-results.png" descr="proshop-search-results.png"/>
          <p:cNvPicPr>
            <a:picLocks noChangeAspect="1"/>
          </p:cNvPicPr>
          <p:nvPr/>
        </p:nvPicPr>
        <p:blipFill>
          <a:blip r:embed="rId3"/>
          <a:stretch>
            <a:fillRect/>
          </a:stretch>
        </p:blipFill>
        <p:spPr>
          <a:xfrm>
            <a:off x="1976448" y="473280"/>
            <a:ext cx="20431104" cy="12769440"/>
          </a:xfrm>
          <a:prstGeom prst="rect">
            <a:avLst/>
          </a:prstGeom>
          <a:ln w="12700">
            <a:miter lim="400000"/>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205" name="proshop-product.png" descr="proshop-product.png"/>
          <p:cNvPicPr>
            <a:picLocks noChangeAspect="1"/>
          </p:cNvPicPr>
          <p:nvPr/>
        </p:nvPicPr>
        <p:blipFill>
          <a:blip r:embed="rId3"/>
          <a:stretch>
            <a:fillRect/>
          </a:stretch>
        </p:blipFill>
        <p:spPr>
          <a:xfrm>
            <a:off x="1976448" y="473280"/>
            <a:ext cx="20431104" cy="12769440"/>
          </a:xfrm>
          <a:prstGeom prst="rect">
            <a:avLst/>
          </a:prstGeom>
          <a:ln w="12700">
            <a:miter lim="400000"/>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207" name="proshop-cart.png" descr="proshop-cart.png"/>
          <p:cNvPicPr>
            <a:picLocks noChangeAspect="1"/>
          </p:cNvPicPr>
          <p:nvPr/>
        </p:nvPicPr>
        <p:blipFill>
          <a:blip r:embed="rId3"/>
          <a:stretch>
            <a:fillRect/>
          </a:stretch>
        </p:blipFill>
        <p:spPr>
          <a:xfrm>
            <a:off x="1976448" y="473280"/>
            <a:ext cx="20431104" cy="12769440"/>
          </a:xfrm>
          <a:prstGeom prst="rect">
            <a:avLst/>
          </a:prstGeom>
          <a:ln w="12700">
            <a:miter lim="400000"/>
          </a:ln>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209" name="proshop-order-summary.png" descr="proshop-order-summary.png"/>
          <p:cNvPicPr>
            <a:picLocks noChangeAspect="1"/>
          </p:cNvPicPr>
          <p:nvPr/>
        </p:nvPicPr>
        <p:blipFill>
          <a:blip r:embed="rId3"/>
          <a:stretch>
            <a:fillRect/>
          </a:stretch>
        </p:blipFill>
        <p:spPr>
          <a:xfrm>
            <a:off x="1976448" y="473280"/>
            <a:ext cx="20431104" cy="12769440"/>
          </a:xfrm>
          <a:prstGeom prst="rect">
            <a:avLst/>
          </a:prstGeom>
          <a:ln w="12700">
            <a:miter lim="400000"/>
          </a:ln>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211" name="proshop-order-pay.png" descr="proshop-order-pay.png"/>
          <p:cNvPicPr>
            <a:picLocks noChangeAspect="1"/>
          </p:cNvPicPr>
          <p:nvPr/>
        </p:nvPicPr>
        <p:blipFill>
          <a:blip r:embed="rId3"/>
          <a:stretch>
            <a:fillRect/>
          </a:stretch>
        </p:blipFill>
        <p:spPr>
          <a:xfrm>
            <a:off x="1976448" y="473280"/>
            <a:ext cx="20431104" cy="12769440"/>
          </a:xfrm>
          <a:prstGeom prst="rect">
            <a:avLst/>
          </a:prstGeom>
          <a:ln w="12700">
            <a:miter lim="400000"/>
          </a:ln>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213" name="proshop-profike.png" descr="proshop-profike.png"/>
          <p:cNvPicPr>
            <a:picLocks noChangeAspect="1"/>
          </p:cNvPicPr>
          <p:nvPr/>
        </p:nvPicPr>
        <p:blipFill>
          <a:blip r:embed="rId3"/>
          <a:stretch>
            <a:fillRect/>
          </a:stretch>
        </p:blipFill>
        <p:spPr>
          <a:xfrm>
            <a:off x="1976448" y="473280"/>
            <a:ext cx="20431104" cy="12769440"/>
          </a:xfrm>
          <a:prstGeom prst="rect">
            <a:avLst/>
          </a:prstGeom>
          <a:ln w="12700">
            <a:miter lim="400000"/>
          </a:ln>
        </p:spPr>
      </p:pic>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215" name="proshop-admin-products.png" descr="proshop-admin-products.png"/>
          <p:cNvPicPr>
            <a:picLocks noChangeAspect="1"/>
          </p:cNvPicPr>
          <p:nvPr/>
        </p:nvPicPr>
        <p:blipFill>
          <a:blip r:embed="rId3"/>
          <a:stretch>
            <a:fillRect/>
          </a:stretch>
        </p:blipFill>
        <p:spPr>
          <a:xfrm>
            <a:off x="1976448" y="473280"/>
            <a:ext cx="20431104" cy="12769440"/>
          </a:xfrm>
          <a:prstGeom prst="rect">
            <a:avLst/>
          </a:prstGeom>
          <a:ln w="12700">
            <a:miter lim="400000"/>
          </a:ln>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217" name="proshop-admin-users.png" descr="proshop-admin-users.png"/>
          <p:cNvPicPr>
            <a:picLocks noChangeAspect="1"/>
          </p:cNvPicPr>
          <p:nvPr/>
        </p:nvPicPr>
        <p:blipFill>
          <a:blip r:embed="rId3"/>
          <a:stretch>
            <a:fillRect/>
          </a:stretch>
        </p:blipFill>
        <p:spPr>
          <a:xfrm>
            <a:off x="1976448" y="473280"/>
            <a:ext cx="20431104" cy="12769440"/>
          </a:xfrm>
          <a:prstGeom prst="rect">
            <a:avLst/>
          </a:prstGeom>
          <a:ln w="12700">
            <a:miter lim="400000"/>
          </a:ln>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19" name="REFERENCES"/>
          <p:cNvSpPr txBox="1">
            <a:spLocks noGrp="1"/>
          </p:cNvSpPr>
          <p:nvPr>
            <p:ph type="title"/>
          </p:nvPr>
        </p:nvSpPr>
        <p:spPr>
          <a:xfrm>
            <a:off x="803654" y="889925"/>
            <a:ext cx="21971001" cy="1433164"/>
          </a:xfrm>
          <a:prstGeom prst="rect">
            <a:avLst/>
          </a:prstGeom>
        </p:spPr>
        <p:txBody>
          <a:bodyPr/>
          <a:lstStyle>
            <a:lvl1pPr>
              <a:defRPr sz="7200" u="sng" spc="-144">
                <a:solidFill>
                  <a:srgbClr val="FFFFFF"/>
                </a:solidFill>
              </a:defRPr>
            </a:lvl1pPr>
          </a:lstStyle>
          <a:p>
            <a:r>
              <a:t>REFERENCES</a:t>
            </a:r>
          </a:p>
        </p:txBody>
      </p:sp>
      <p:sp>
        <p:nvSpPr>
          <p:cNvPr id="220" name="https://www.reactjs.org/…"/>
          <p:cNvSpPr txBox="1">
            <a:spLocks noGrp="1"/>
          </p:cNvSpPr>
          <p:nvPr>
            <p:ph type="body" idx="1"/>
          </p:nvPr>
        </p:nvSpPr>
        <p:spPr>
          <a:xfrm>
            <a:off x="803654" y="3632388"/>
            <a:ext cx="21971001" cy="8256011"/>
          </a:xfrm>
          <a:prstGeom prst="rect">
            <a:avLst/>
          </a:prstGeom>
        </p:spPr>
        <p:txBody>
          <a:bodyPr/>
          <a:lstStyle/>
          <a:p>
            <a:pPr marL="304800" indent="-304800" defTabSz="457200">
              <a:lnSpc>
                <a:spcPct val="100000"/>
              </a:lnSpc>
              <a:spcBef>
                <a:spcPts val="0"/>
              </a:spcBef>
              <a:defRPr sz="4000">
                <a:solidFill>
                  <a:srgbClr val="FFFFFF"/>
                </a:solidFill>
                <a:uFill>
                  <a:solidFill>
                    <a:srgbClr val="0000EE"/>
                  </a:solidFill>
                </a:uFill>
                <a:latin typeface="Helvetica Neue Thin"/>
                <a:ea typeface="Helvetica Neue Thin"/>
                <a:cs typeface="Helvetica Neue Thin"/>
                <a:sym typeface="Helvetica Neue Thin"/>
              </a:defRPr>
            </a:pPr>
            <a:r>
              <a:t>	https://www.reactjs.org/</a:t>
            </a:r>
          </a:p>
          <a:p>
            <a:pPr marL="304800" indent="-304800" defTabSz="457200">
              <a:lnSpc>
                <a:spcPct val="100000"/>
              </a:lnSpc>
              <a:spcBef>
                <a:spcPts val="0"/>
              </a:spcBef>
              <a:defRPr sz="4000">
                <a:solidFill>
                  <a:srgbClr val="FFFFFF"/>
                </a:solidFill>
                <a:uFill>
                  <a:solidFill>
                    <a:srgbClr val="0000EE"/>
                  </a:solidFill>
                </a:uFill>
                <a:latin typeface="Helvetica Neue Thin"/>
                <a:ea typeface="Helvetica Neue Thin"/>
                <a:cs typeface="Helvetica Neue Thin"/>
                <a:sym typeface="Helvetica Neue Thin"/>
              </a:defRPr>
            </a:pPr>
            <a:r>
              <a:t> https://www.nodejs.org/</a:t>
            </a:r>
          </a:p>
          <a:p>
            <a:pPr marL="304800" indent="-304800" defTabSz="457200">
              <a:lnSpc>
                <a:spcPct val="100000"/>
              </a:lnSpc>
              <a:spcBef>
                <a:spcPts val="0"/>
              </a:spcBef>
              <a:defRPr sz="4000">
                <a:solidFill>
                  <a:srgbClr val="FFFFFF"/>
                </a:solidFill>
                <a:uFill>
                  <a:solidFill>
                    <a:srgbClr val="0000EE"/>
                  </a:solidFill>
                </a:uFill>
                <a:latin typeface="Helvetica Neue Thin"/>
                <a:ea typeface="Helvetica Neue Thin"/>
                <a:cs typeface="Helvetica Neue Thin"/>
                <a:sym typeface="Helvetica Neue Thin"/>
              </a:defRPr>
            </a:pPr>
            <a:r>
              <a:t> https://www.w3schools.com/</a:t>
            </a:r>
          </a:p>
          <a:p>
            <a:pPr marL="304800" indent="-304800" defTabSz="457200">
              <a:lnSpc>
                <a:spcPct val="100000"/>
              </a:lnSpc>
              <a:spcBef>
                <a:spcPts val="0"/>
              </a:spcBef>
              <a:defRPr sz="4000">
                <a:solidFill>
                  <a:srgbClr val="FFFFFF"/>
                </a:solidFill>
                <a:uFill>
                  <a:solidFill>
                    <a:srgbClr val="0000EE"/>
                  </a:solidFill>
                </a:uFill>
                <a:latin typeface="Helvetica Neue Thin"/>
                <a:ea typeface="Helvetica Neue Thin"/>
                <a:cs typeface="Helvetica Neue Thin"/>
                <a:sym typeface="Helvetica Neue Thin"/>
              </a:defRPr>
            </a:pPr>
            <a:r>
              <a:t> https://www.mongodb.com/</a:t>
            </a:r>
          </a:p>
          <a:p>
            <a:pPr marL="304800" indent="-304800" defTabSz="457200">
              <a:lnSpc>
                <a:spcPct val="100000"/>
              </a:lnSpc>
              <a:spcBef>
                <a:spcPts val="0"/>
              </a:spcBef>
              <a:defRPr sz="4000">
                <a:solidFill>
                  <a:srgbClr val="FFFFFF"/>
                </a:solidFill>
                <a:uFill>
                  <a:solidFill>
                    <a:srgbClr val="0000EE"/>
                  </a:solidFill>
                </a:uFill>
                <a:latin typeface="Helvetica Neue Thin"/>
                <a:ea typeface="Helvetica Neue Thin"/>
                <a:cs typeface="Helvetica Neue Thin"/>
                <a:sym typeface="Helvetica Neue Thin"/>
              </a:defRPr>
            </a:pPr>
            <a:r>
              <a:t> https://www.expressjs.com/</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22" name="THANK YOU"/>
          <p:cNvSpPr txBox="1">
            <a:spLocks noGrp="1"/>
          </p:cNvSpPr>
          <p:nvPr>
            <p:ph type="title"/>
          </p:nvPr>
        </p:nvSpPr>
        <p:spPr>
          <a:xfrm>
            <a:off x="2333439" y="4722665"/>
            <a:ext cx="19717122" cy="4270670"/>
          </a:xfrm>
          <a:prstGeom prst="rect">
            <a:avLst/>
          </a:prstGeom>
        </p:spPr>
        <p:txBody>
          <a:bodyPr/>
          <a:lstStyle>
            <a:lvl1pPr defTabSz="2413955">
              <a:defRPr sz="26532" spc="-530">
                <a:solidFill>
                  <a:srgbClr val="E9E9FF"/>
                </a:solidFill>
              </a:defRPr>
            </a:lvl1pPr>
          </a:lstStyle>
          <a:p>
            <a:r>
              <a:t>THANK YOU</a:t>
            </a:r>
          </a:p>
        </p:txBody>
      </p:sp>
    </p:spTree>
  </p:cSld>
  <p:clrMapOvr>
    <a:masterClrMapping/>
  </p:clrMapOvr>
  <p:transition spd="med"/>
</p:sld>
</file>

<file path=ppt/theme/theme1.xml><?xml version="1.0" encoding="utf-8"?>
<a:theme xmlns:a="http://schemas.openxmlformats.org/drawingml/2006/main" name="33_DynamicLight">
  <a:themeElements>
    <a:clrScheme name="33_DynamicLight">
      <a:dk1>
        <a:srgbClr val="5E5E5E"/>
      </a:dk1>
      <a:lt1>
        <a:srgbClr val="005E00"/>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3_DynamicLight">
      <a:majorFont>
        <a:latin typeface="Helvetica Neue"/>
        <a:ea typeface="Helvetica Neue"/>
        <a:cs typeface="Helvetica Neue"/>
      </a:majorFont>
      <a:minorFont>
        <a:latin typeface="Helvetica Neue"/>
        <a:ea typeface="Helvetica Neue"/>
        <a:cs typeface="Helvetica Neue"/>
      </a:minorFont>
    </a:fontScheme>
    <a:fmtScheme name="33_Dynamic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33_DynamicLight">
  <a:themeElements>
    <a:clrScheme name="33_DynamicLight">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3_DynamicLight">
      <a:majorFont>
        <a:latin typeface="Helvetica Neue"/>
        <a:ea typeface="Helvetica Neue"/>
        <a:cs typeface="Helvetica Neue"/>
      </a:majorFont>
      <a:minorFont>
        <a:latin typeface="Helvetica Neue"/>
        <a:ea typeface="Helvetica Neue"/>
        <a:cs typeface="Helvetica Neue"/>
      </a:minorFont>
    </a:fontScheme>
    <a:fmtScheme name="33_Dynamic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609</Words>
  <Application>Microsoft Office PowerPoint</Application>
  <PresentationFormat>Custom</PresentationFormat>
  <Paragraphs>44</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Helvetica Neue</vt:lpstr>
      <vt:lpstr>Helvetica Neue Medium</vt:lpstr>
      <vt:lpstr>Helvetica Neue Thin</vt:lpstr>
      <vt:lpstr>Times Roman</vt:lpstr>
      <vt:lpstr>33_DynamicLight</vt:lpstr>
      <vt:lpstr>E-COMMERCE PRO SHOP</vt:lpstr>
      <vt:lpstr>INTRODUCTION</vt:lpstr>
      <vt:lpstr>TECHNOLOGIES USED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PRO SHOP</dc:title>
  <cp:lastModifiedBy>SHIVENDRA TRIPATHI</cp:lastModifiedBy>
  <cp:revision>1</cp:revision>
  <dcterms:modified xsi:type="dcterms:W3CDTF">2024-02-24T13:37:55Z</dcterms:modified>
</cp:coreProperties>
</file>